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d7a9b11-30d9-aa0b-7e1b-258b35f655c4}">
          <p14:sldIdLst>
            <p14:sldId id="256"/>
            <p14:sldId id="257"/>
            <p14:sldId id="258"/>
            <p14:sldId id="259"/>
            <p14:sldId id="260"/>
          </p14:sldIdLst>
        </p14:section>
        <p14:section name="Method" id="{4ae8ae39-c0b1-10f6-c85c-6cd98cd757b2}">
          <p14:sldIdLst>
            <p14:sldId id="261"/>
            <p14:sldId id="262"/>
            <p14:sldId id="263"/>
            <p14:sldId id="264"/>
          </p14:sldIdLst>
        </p14:section>
        <p14:section name="Results and use" id="{73e21002-26ba-cb05-763c-53d194db6ff9}">
          <p14:sldIdLst>
            <p14:sldId id="265"/>
            <p14:sldId id="266"/>
            <p14:sldId id="267"/>
            <p14:sldId id="268"/>
            <p14:sldId id="269"/>
            <p14:sldId id="270"/>
          </p14:sldIdLst>
        </p14:section>
        <p14:section name="Close" id="{1aae0853-2832-af35-333c-7852c3d9f8bc}">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CardioTwin AI is our entry to the Happiest Health Digital Twin Challenge 2026. It is an educational and research prototype that combines historical health context with simulated wearable signals inside a software digital twin. Everything you will see uses synthetic or appropriately licensed anonymized data, and nothing here is clinical.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 in four steps. The problem: historical records and dynamic wearable data are hard to read together. The solution: a simulated, patient-specific digital-twin state. The intelligence: temporal features and a trained model for one defined outcome and horizon. The value: a transparent, interactive dashboard for exploring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challenges motivate the project. Historical EHR data and wearable streams behave differently. Physiological patterns drift, so single readings miss trends. Data-quality problems undermine reliability. And any prediction must be interpretable and evaluated without patient or time leakage. We deliberately avoid quoting prevalence statistics here; any statistic added later needs a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narrow research use case: combine synthetic historical records and simulated wearable signals to estimate a defined short-horizon physiological-pattern outcome. A synthetic patient goes in, validated and feature-engineered data is compared against a baseline, and the output is an experimental estimate with its horizon, an explanation, and its limitations. This is not diagnosis and not a prediction of a real heart attack.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genuinely new is the combination: fusing historical context with dynamic data, keeping patient-specific baselines, and storing digital-twin snapshot history. Explainability, themes and multilingual support are standard techniques applied well, and we say so plainly. Status labels must be confirmed against the repository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top to bottom. Synthetic EHR and simulated wearable series are validated, then temporal features are built. The twin state and snapshots feed a trained model, followed by explainability and evaluation. A backend API persists results for the interactive frontend and reports. If this differs from docs/architecture.pdf, swap in the repository diagram and mark unimplemented parts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synthetic or appropriately licensed anonymized data. We document fields and units, align timestamps, flag missing values, check duplicates and outliers, and construct rolling and baseline features. The table is an illustrative synthetic example, not real data, and dataset counts will be filled from the verified data profile rather than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is a software representation of a synthetic patient that changes over time. Each snapshot stores historical context, recent observations, baseline and rolling features, a timestamp, data freshness and missingness, and the model version with its prediction. The timeline is illustrative. This is a research representation, not a validated physiological replica.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planned methodology until the model is trained. Define a binary target and horizon, preprocess, fit an interpretable baseline, fit a candidate model, validate with patient-grouped and time-aware splits, then log versioned predictions. Replace the proposed model names with those actually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scores are shown because evaluation is not complete, and we will not manufacture numbers. The protocol is: patient-grouped, time-aware validation; precision, recall, F1, AUROC and AUPRC; calibration and Brier score; and baseline versus candidate on identical folds. The table will be populated only from saved evaluation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estimate is shown with its horizon, the features that contributed most if computed, data freshness, missing inputs, uncertainty only if estimated, and the training-data limitations. The card on the left is a conceptual layout, not real model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journey has eight steps: select a synthetic patient, review history, inspect wearable trends, view the latest twin state, request a model estimate, review explanations, run a what-if scenario, and export a report if implemented. Insert real screenshots; label any unbuilt screen as a proposed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lists capabilities and what evidence supports each. We only claim a feature once it has been tested. Update the status and evidence columns from your test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Safeguards on the left: synthetic or anonymized data only, leakage prevention, input validation, API protections where implemented, and secrets kept out of slides and the repository. Right: what is explicitly not claimed. A future clinical evaluation would need clinical expertise, governance, data access and independent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Completed means verified only. Limitations are plain: synthetic data, no clinical validation, prototype scale. Next steps are external validation, better calibration, more data modalities, accessibility improvements and clinician-informed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problem is interpreting historical and dynamic data together. The contribution is a transparent digital-twin research workflow. The prototype status is honest and labeled. Measured findings will be reported once evaluation completes. Please see the repository and demo for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Cite only those that match what is actually implemented. Remove any reference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Fields and units visible in the live prototype for the synthetic subject CT-1001. The strip is cropped from the running dashboard. Values are synthetic.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names are taken from the live interface sidebar. Each page should be demonstrated or tested before being claimed as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tx2"/>
                </a:solidFill>
              </a:defRPr>
            </a:lvl1pPr>
          </a:lstStyle>
          <a:p>
            <a:pPr indent="0" marL="0">
              <a:buNone/>
            </a:pPr>
            <a:endParaRPr lang="en-US" sz="34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chemeClr val="accent6"/>
                </a:solidFill>
              </a:rPr>
              <a:t>CardioTwin AI  |  Research prototype on synthetic data  |  Not for clinical use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chemeClr val="bg1"/>
                </a:solidFill>
              </a:defRPr>
            </a:lvl1pPr>
          </a:lstStyle>
          <a:p>
            <a:pPr indent="0" marL="0">
              <a:buNone/>
            </a:pPr>
            <a:endParaRPr lang="en-US" sz="34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A5B4CC"/>
                </a:solidFill>
              </a:rPr>
              <a:t>CardioTwin AI  |  Research prototype on synthetic data  |  Not for clinical use</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5B4C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ardio-twin-ai-rose.vercel.app/" TargetMode="Externa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cardio-twin-ai-rose.vercel.app/" TargetMode="External"/><Relationship Id="rId1" Type="http://schemas.openxmlformats.org/officeDocument/2006/relationships/image" Target="../media/image-12-1.jp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1097280"/>
            <a:ext cx="6675120" cy="365760"/>
          </a:xfrm>
          <a:prstGeom prst="rect">
            <a:avLst/>
          </a:prstGeom>
          <a:noFill/>
          <a:ln/>
        </p:spPr>
        <p:txBody>
          <a:bodyPr wrap="square" lIns="0" tIns="0" rIns="0" bIns="0" rtlCol="0" anchor="t"/>
          <a:lstStyle/>
          <a:p>
            <a:pPr indent="0" marL="0">
              <a:buNone/>
            </a:pPr>
            <a:r>
              <a:rPr lang="en-US" sz="1400" b="1" dirty="0">
                <a:solidFill>
                  <a:srgbClr val="FFFFFF"/>
                </a:solidFill>
              </a:rPr>
              <a:t>HAPPIEST HEALTH DIGITAL TWIN CHALLENGE 2026</a:t>
            </a:r>
            <a:endParaRPr lang="en-US" sz="1400" dirty="0"/>
          </a:p>
        </p:txBody>
      </p:sp>
      <p:sp>
        <p:nvSpPr>
          <p:cNvPr id="4" name="Text 1"/>
          <p:cNvSpPr txBox="1"/>
          <p:nvPr/>
        </p:nvSpPr>
        <p:spPr>
          <a:xfrm>
            <a:off x="548640" y="1645920"/>
            <a:ext cx="6675120" cy="1005840"/>
          </a:xfrm>
          <a:prstGeom prst="rect">
            <a:avLst/>
          </a:prstGeom>
          <a:noFill/>
          <a:ln/>
        </p:spPr>
        <p:txBody>
          <a:bodyPr wrap="square" lIns="0" tIns="0" rIns="0" bIns="0" rtlCol="0" anchor="t"/>
          <a:lstStyle/>
          <a:p>
            <a:pPr indent="0" marL="0">
              <a:buNone/>
            </a:pPr>
            <a:r>
              <a:rPr lang="en-US" sz="6000" b="1" dirty="0">
                <a:solidFill>
                  <a:srgbClr val="FFFFFF"/>
                </a:solidFill>
                <a:latin typeface="Calibri" pitchFamily="34" charset="0"/>
                <a:ea typeface="Calibri" pitchFamily="34" charset="-122"/>
                <a:cs typeface="Calibri" pitchFamily="34" charset="-120"/>
              </a:rPr>
              <a:t>CardioTwin AI</a:t>
            </a:r>
            <a:endParaRPr lang="en-US" sz="6000" dirty="0"/>
          </a:p>
        </p:txBody>
      </p:sp>
      <p:sp>
        <p:nvSpPr>
          <p:cNvPr id="5" name="Text 2"/>
          <p:cNvSpPr txBox="1"/>
          <p:nvPr/>
        </p:nvSpPr>
        <p:spPr>
          <a:xfrm>
            <a:off x="548640" y="2743200"/>
            <a:ext cx="6675120" cy="914400"/>
          </a:xfrm>
          <a:prstGeom prst="rect">
            <a:avLst/>
          </a:prstGeom>
          <a:noFill/>
          <a:ln/>
        </p:spPr>
        <p:txBody>
          <a:bodyPr wrap="square" lIns="0" tIns="0" rIns="0" bIns="0" rtlCol="0" anchor="t"/>
          <a:lstStyle/>
          <a:p>
            <a:pPr indent="0" marL="0">
              <a:buNone/>
            </a:pPr>
            <a:r>
              <a:rPr lang="en-US" sz="2400" dirty="0">
                <a:solidFill>
                  <a:srgbClr val="22D3EE"/>
                </a:solidFill>
              </a:rPr>
              <a:t>Personalized Cardiovascular Digital Twin &amp; Early Risk Prediction</a:t>
            </a:r>
            <a:endParaRPr lang="en-US" sz="2400" dirty="0"/>
          </a:p>
        </p:txBody>
      </p:sp>
      <p:sp>
        <p:nvSpPr>
          <p:cNvPr id="6" name="Text 3"/>
          <p:cNvSpPr txBox="1"/>
          <p:nvPr/>
        </p:nvSpPr>
        <p:spPr>
          <a:xfrm>
            <a:off x="548640" y="4023360"/>
            <a:ext cx="6675120" cy="128016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rPr>
              <a:t>Sathiyamoorthi S (Team Leader)  |  Omprakash S</a:t>
            </a:r>
            <a:endParaRPr lang="en-US" sz="1600" dirty="0"/>
          </a:p>
          <a:p>
            <a:pPr indent="0" marL="0">
              <a:spcAft>
                <a:spcPts val="400"/>
              </a:spcAft>
              <a:buNone/>
            </a:pPr>
            <a:r>
              <a:rPr lang="en-US" sz="1600" dirty="0">
                <a:solidFill>
                  <a:srgbClr val="FFFFFF"/>
                </a:solidFill>
              </a:rPr>
              <a:t>V.S.B College of Engineering Technical Campus, Coimbatore, Tamil Nadu</a:t>
            </a:r>
            <a:endParaRPr lang="en-US" sz="1600" dirty="0"/>
          </a:p>
          <a:p>
            <a:pPr indent="0" marL="0">
              <a:spcAft>
                <a:spcPts val="400"/>
              </a:spcAft>
              <a:buNone/>
            </a:pPr>
            <a:r>
              <a:rPr lang="en-US" sz="1600" u="sng" dirty="0">
                <a:solidFill>
                  <a:srgbClr val="22D3EE"/>
                </a:solidFill>
                <a:hlinkClick r:id="rId1" invalidUrl="" action="" tgtFrame="" tooltip="" history="1" highlightClick="0" endSnd="0">
                  <a:extLst>
                    <a:ext uri="{A12FA001-AC4F-418D-AE19-62706E023703}">
                      <ahyp:hlinkClr xmlns:ahyp="http://schemas.microsoft.com/office/drawing/2018/hyperlinkcolor" val="tx"/>
                    </a:ext>
                  </a:extLst>
                </a:hlinkClick>
              </a:rPr>
              <a:t>Live demo: cardio-twin-ai-rose.vercel.app</a:t>
            </a:r>
            <a:endParaRPr lang="en-US" sz="1600" dirty="0"/>
          </a:p>
        </p:txBody>
      </p:sp>
      <p:sp>
        <p:nvSpPr>
          <p:cNvPr id="7" name="Text 4"/>
          <p:cNvSpPr txBox="1"/>
          <p:nvPr/>
        </p:nvSpPr>
        <p:spPr>
          <a:xfrm>
            <a:off x="548640" y="5943600"/>
            <a:ext cx="6675120" cy="365760"/>
          </a:xfrm>
          <a:prstGeom prst="rect">
            <a:avLst/>
          </a:prstGeom>
          <a:noFill/>
          <a:ln/>
        </p:spPr>
        <p:txBody>
          <a:bodyPr wrap="square" lIns="0" tIns="0" rIns="0" bIns="0" rtlCol="0" anchor="t"/>
          <a:lstStyle/>
          <a:p>
            <a:pPr indent="0" marL="0">
              <a:buNone/>
            </a:pPr>
            <a:r>
              <a:rPr lang="en-US" sz="1400" i="1" dirty="0">
                <a:solidFill>
                  <a:srgbClr val="CBD5E1"/>
                </a:solidFill>
              </a:rPr>
              <a:t>Research prototype using synthetic or appropriately licensed data.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Executive Summary</a:t>
            </a:r>
            <a:endParaRPr lang="en-US" sz="3400" dirty="0"/>
          </a:p>
        </p:txBody>
      </p:sp>
      <p:sp>
        <p:nvSpPr>
          <p:cNvPr id="4" name="Card"/>
          <p:cNvSpPr/>
          <p:nvPr/>
        </p:nvSpPr>
        <p:spPr>
          <a:xfrm>
            <a:off x="548640" y="1463040"/>
            <a:ext cx="2560320" cy="3291840"/>
          </a:xfrm>
          <a:prstGeom prst="roundRect">
            <a:avLst>
              <a:gd name="adj" fmla="val 3571"/>
            </a:avLst>
          </a:prstGeom>
          <a:solidFill>
            <a:schemeClr val="bg2"/>
          </a:solidFill>
          <a:ln/>
        </p:spPr>
      </p:sp>
      <p:sp>
        <p:nvSpPr>
          <p:cNvPr id="5" name="Icon circle"/>
          <p:cNvSpPr/>
          <p:nvPr/>
        </p:nvSpPr>
        <p:spPr>
          <a:xfrm>
            <a:off x="777240" y="1691640"/>
            <a:ext cx="548640" cy="548640"/>
          </a:xfrm>
          <a:prstGeom prst="ellipse">
            <a:avLst/>
          </a:prstGeom>
          <a:solidFill>
            <a:schemeClr val="accent1"/>
          </a:solidFill>
          <a:ln/>
        </p:spPr>
      </p:sp>
      <p:pic>
        <p:nvPicPr>
          <p:cNvPr id="6" name="Image 0" descr="Search icon">    </p:cNvPr>
          <p:cNvPicPr>
            <a:picLocks noChangeAspect="1"/>
          </p:cNvPicPr>
          <p:nvPr/>
        </p:nvPicPr>
        <p:blipFill>
          <a:blip r:embed="rId1"/>
          <a:stretch>
            <a:fillRect/>
          </a:stretch>
        </p:blipFill>
        <p:spPr>
          <a:xfrm>
            <a:off x="914400" y="1828800"/>
            <a:ext cx="274320" cy="274320"/>
          </a:xfrm>
          <a:prstGeom prst="rect">
            <a:avLst/>
          </a:prstGeom>
        </p:spPr>
      </p:pic>
      <p:sp>
        <p:nvSpPr>
          <p:cNvPr id="7" name="Text 3"/>
          <p:cNvSpPr txBox="1"/>
          <p:nvPr/>
        </p:nvSpPr>
        <p:spPr>
          <a:xfrm>
            <a:off x="777240" y="2423160"/>
            <a:ext cx="2103120" cy="365760"/>
          </a:xfrm>
          <a:prstGeom prst="rect">
            <a:avLst/>
          </a:prstGeom>
          <a:noFill/>
          <a:ln/>
        </p:spPr>
        <p:txBody>
          <a:bodyPr wrap="square" lIns="0" tIns="0" rIns="0" bIns="0" rtlCol="0" anchor="t"/>
          <a:lstStyle/>
          <a:p>
            <a:pPr indent="0" marL="0">
              <a:buNone/>
            </a:pPr>
            <a:r>
              <a:rPr lang="en-US" sz="2200" b="1" dirty="0">
                <a:solidFill>
                  <a:schemeClr val="tx2"/>
                </a:solidFill>
              </a:rPr>
              <a:t>Problem</a:t>
            </a:r>
            <a:endParaRPr lang="en-US" sz="2200" dirty="0"/>
          </a:p>
        </p:txBody>
      </p:sp>
      <p:sp>
        <p:nvSpPr>
          <p:cNvPr id="8" name="Text 4"/>
          <p:cNvSpPr txBox="1"/>
          <p:nvPr/>
        </p:nvSpPr>
        <p:spPr>
          <a:xfrm>
            <a:off x="777240" y="2926080"/>
            <a:ext cx="2148840" cy="1645920"/>
          </a:xfrm>
          <a:prstGeom prst="rect">
            <a:avLst/>
          </a:prstGeom>
          <a:noFill/>
          <a:ln/>
        </p:spPr>
        <p:txBody>
          <a:bodyPr wrap="square" lIns="0" tIns="0" rIns="0" bIns="0" rtlCol="0" anchor="t"/>
          <a:lstStyle/>
          <a:p>
            <a:pPr indent="0" marL="0">
              <a:buNone/>
            </a:pPr>
            <a:r>
              <a:rPr lang="en-US" sz="1400" dirty="0">
                <a:solidFill>
                  <a:schemeClr val="tx1"/>
                </a:solidFill>
              </a:rPr>
              <a:t>Historical records and dynamic wearable signals are hard to interpret together.</a:t>
            </a:r>
            <a:endParaRPr lang="en-US" sz="1400" dirty="0"/>
          </a:p>
        </p:txBody>
      </p:sp>
      <p:sp>
        <p:nvSpPr>
          <p:cNvPr id="9" name="Flow arrow"/>
          <p:cNvSpPr/>
          <p:nvPr/>
        </p:nvSpPr>
        <p:spPr>
          <a:xfrm>
            <a:off x="3136392" y="2926080"/>
            <a:ext cx="274320" cy="228600"/>
          </a:xfrm>
          <a:prstGeom prst="rightArrow">
            <a:avLst/>
          </a:prstGeom>
          <a:solidFill>
            <a:schemeClr val="accent1"/>
          </a:solidFill>
          <a:ln/>
        </p:spPr>
      </p:sp>
      <p:sp>
        <p:nvSpPr>
          <p:cNvPr id="10" name="Card"/>
          <p:cNvSpPr/>
          <p:nvPr/>
        </p:nvSpPr>
        <p:spPr>
          <a:xfrm>
            <a:off x="3383280" y="1463040"/>
            <a:ext cx="2560320" cy="3291840"/>
          </a:xfrm>
          <a:prstGeom prst="roundRect">
            <a:avLst>
              <a:gd name="adj" fmla="val 3571"/>
            </a:avLst>
          </a:prstGeom>
          <a:solidFill>
            <a:schemeClr val="bg2"/>
          </a:solidFill>
          <a:ln/>
        </p:spPr>
      </p:sp>
      <p:sp>
        <p:nvSpPr>
          <p:cNvPr id="11" name="Icon circle"/>
          <p:cNvSpPr/>
          <p:nvPr/>
        </p:nvSpPr>
        <p:spPr>
          <a:xfrm>
            <a:off x="3611880" y="1691640"/>
            <a:ext cx="548640" cy="548640"/>
          </a:xfrm>
          <a:prstGeom prst="ellipse">
            <a:avLst/>
          </a:prstGeom>
          <a:solidFill>
            <a:schemeClr val="accent1"/>
          </a:solidFill>
          <a:ln/>
        </p:spPr>
      </p:sp>
      <p:pic>
        <p:nvPicPr>
          <p:cNvPr id="12" name="Image 1" descr="UserInjured icon">    </p:cNvPr>
          <p:cNvPicPr>
            <a:picLocks noChangeAspect="1"/>
          </p:cNvPicPr>
          <p:nvPr/>
        </p:nvPicPr>
        <p:blipFill>
          <a:blip r:embed="rId2"/>
          <a:stretch>
            <a:fillRect/>
          </a:stretch>
        </p:blipFill>
        <p:spPr>
          <a:xfrm>
            <a:off x="3749040" y="1828800"/>
            <a:ext cx="274320" cy="274320"/>
          </a:xfrm>
          <a:prstGeom prst="rect">
            <a:avLst/>
          </a:prstGeom>
        </p:spPr>
      </p:pic>
      <p:sp>
        <p:nvSpPr>
          <p:cNvPr id="13" name="Text 8"/>
          <p:cNvSpPr txBox="1"/>
          <p:nvPr/>
        </p:nvSpPr>
        <p:spPr>
          <a:xfrm>
            <a:off x="3611880" y="2423160"/>
            <a:ext cx="2103120" cy="365760"/>
          </a:xfrm>
          <a:prstGeom prst="rect">
            <a:avLst/>
          </a:prstGeom>
          <a:noFill/>
          <a:ln/>
        </p:spPr>
        <p:txBody>
          <a:bodyPr wrap="square" lIns="0" tIns="0" rIns="0" bIns="0" rtlCol="0" anchor="t"/>
          <a:lstStyle/>
          <a:p>
            <a:pPr indent="0" marL="0">
              <a:buNone/>
            </a:pPr>
            <a:r>
              <a:rPr lang="en-US" sz="2200" b="1" dirty="0">
                <a:solidFill>
                  <a:schemeClr val="tx2"/>
                </a:solidFill>
              </a:rPr>
              <a:t>Solution</a:t>
            </a:r>
            <a:endParaRPr lang="en-US" sz="2200" dirty="0"/>
          </a:p>
        </p:txBody>
      </p:sp>
      <p:sp>
        <p:nvSpPr>
          <p:cNvPr id="14" name="Text 9"/>
          <p:cNvSpPr txBox="1"/>
          <p:nvPr/>
        </p:nvSpPr>
        <p:spPr>
          <a:xfrm>
            <a:off x="3611880" y="2926080"/>
            <a:ext cx="2148840" cy="1645920"/>
          </a:xfrm>
          <a:prstGeom prst="rect">
            <a:avLst/>
          </a:prstGeom>
          <a:noFill/>
          <a:ln/>
        </p:spPr>
        <p:txBody>
          <a:bodyPr wrap="square" lIns="0" tIns="0" rIns="0" bIns="0" rtlCol="0" anchor="t"/>
          <a:lstStyle/>
          <a:p>
            <a:pPr indent="0" marL="0">
              <a:buNone/>
            </a:pPr>
            <a:r>
              <a:rPr lang="en-US" sz="1400" dirty="0">
                <a:solidFill>
                  <a:schemeClr val="tx1"/>
                </a:solidFill>
              </a:rPr>
              <a:t>A simulated, patient-specific digital-twin state that fuses both sources.</a:t>
            </a:r>
            <a:endParaRPr lang="en-US" sz="1400" dirty="0"/>
          </a:p>
        </p:txBody>
      </p:sp>
      <p:sp>
        <p:nvSpPr>
          <p:cNvPr id="15" name="Flow arrow"/>
          <p:cNvSpPr/>
          <p:nvPr/>
        </p:nvSpPr>
        <p:spPr>
          <a:xfrm>
            <a:off x="5971032" y="2926080"/>
            <a:ext cx="274320" cy="228600"/>
          </a:xfrm>
          <a:prstGeom prst="rightArrow">
            <a:avLst/>
          </a:prstGeom>
          <a:solidFill>
            <a:schemeClr val="accent1"/>
          </a:solidFill>
          <a:ln/>
        </p:spPr>
      </p:sp>
      <p:sp>
        <p:nvSpPr>
          <p:cNvPr id="16" name="Card"/>
          <p:cNvSpPr/>
          <p:nvPr/>
        </p:nvSpPr>
        <p:spPr>
          <a:xfrm>
            <a:off x="6217920" y="1463040"/>
            <a:ext cx="2560320" cy="3291840"/>
          </a:xfrm>
          <a:prstGeom prst="roundRect">
            <a:avLst>
              <a:gd name="adj" fmla="val 3571"/>
            </a:avLst>
          </a:prstGeom>
          <a:solidFill>
            <a:schemeClr val="bg2"/>
          </a:solidFill>
          <a:ln/>
        </p:spPr>
      </p:sp>
      <p:sp>
        <p:nvSpPr>
          <p:cNvPr id="17" name="Icon circle"/>
          <p:cNvSpPr/>
          <p:nvPr/>
        </p:nvSpPr>
        <p:spPr>
          <a:xfrm>
            <a:off x="6446520" y="1691640"/>
            <a:ext cx="548640" cy="548640"/>
          </a:xfrm>
          <a:prstGeom prst="ellipse">
            <a:avLst/>
          </a:prstGeom>
          <a:solidFill>
            <a:schemeClr val="accent1"/>
          </a:solidFill>
          <a:ln/>
        </p:spPr>
      </p:sp>
      <p:pic>
        <p:nvPicPr>
          <p:cNvPr id="18" name="Image 2" descr="Brain icon">    </p:cNvPr>
          <p:cNvPicPr>
            <a:picLocks noChangeAspect="1"/>
          </p:cNvPicPr>
          <p:nvPr/>
        </p:nvPicPr>
        <p:blipFill>
          <a:blip r:embed="rId3"/>
          <a:stretch>
            <a:fillRect/>
          </a:stretch>
        </p:blipFill>
        <p:spPr>
          <a:xfrm>
            <a:off x="6583680" y="1828800"/>
            <a:ext cx="274320" cy="274320"/>
          </a:xfrm>
          <a:prstGeom prst="rect">
            <a:avLst/>
          </a:prstGeom>
        </p:spPr>
      </p:pic>
      <p:sp>
        <p:nvSpPr>
          <p:cNvPr id="19" name="Text 13"/>
          <p:cNvSpPr txBox="1"/>
          <p:nvPr/>
        </p:nvSpPr>
        <p:spPr>
          <a:xfrm>
            <a:off x="6446520" y="2423160"/>
            <a:ext cx="2103120" cy="365760"/>
          </a:xfrm>
          <a:prstGeom prst="rect">
            <a:avLst/>
          </a:prstGeom>
          <a:noFill/>
          <a:ln/>
        </p:spPr>
        <p:txBody>
          <a:bodyPr wrap="square" lIns="0" tIns="0" rIns="0" bIns="0" rtlCol="0" anchor="t"/>
          <a:lstStyle/>
          <a:p>
            <a:pPr indent="0" marL="0">
              <a:buNone/>
            </a:pPr>
            <a:r>
              <a:rPr lang="en-US" sz="2200" b="1" dirty="0">
                <a:solidFill>
                  <a:schemeClr val="tx2"/>
                </a:solidFill>
              </a:rPr>
              <a:t>Intelligence</a:t>
            </a:r>
            <a:endParaRPr lang="en-US" sz="2200" dirty="0"/>
          </a:p>
        </p:txBody>
      </p:sp>
      <p:sp>
        <p:nvSpPr>
          <p:cNvPr id="20" name="Text 14"/>
          <p:cNvSpPr txBox="1"/>
          <p:nvPr/>
        </p:nvSpPr>
        <p:spPr>
          <a:xfrm>
            <a:off x="6446520" y="2926080"/>
            <a:ext cx="2148840" cy="1645920"/>
          </a:xfrm>
          <a:prstGeom prst="rect">
            <a:avLst/>
          </a:prstGeom>
          <a:noFill/>
          <a:ln/>
        </p:spPr>
        <p:txBody>
          <a:bodyPr wrap="square" lIns="0" tIns="0" rIns="0" bIns="0" rtlCol="0" anchor="t"/>
          <a:lstStyle/>
          <a:p>
            <a:pPr indent="0" marL="0">
              <a:buNone/>
            </a:pPr>
            <a:r>
              <a:rPr lang="en-US" sz="1400" dirty="0">
                <a:solidFill>
                  <a:schemeClr val="tx1"/>
                </a:solidFill>
              </a:rPr>
              <a:t>Temporal features feed a trained ML model for one defined outcome and horizon.</a:t>
            </a:r>
            <a:endParaRPr lang="en-US" sz="1400" dirty="0"/>
          </a:p>
        </p:txBody>
      </p:sp>
      <p:sp>
        <p:nvSpPr>
          <p:cNvPr id="21" name="Flow arrow"/>
          <p:cNvSpPr/>
          <p:nvPr/>
        </p:nvSpPr>
        <p:spPr>
          <a:xfrm>
            <a:off x="8805672" y="2926080"/>
            <a:ext cx="274320" cy="228600"/>
          </a:xfrm>
          <a:prstGeom prst="rightArrow">
            <a:avLst/>
          </a:prstGeom>
          <a:solidFill>
            <a:schemeClr val="accent1"/>
          </a:solidFill>
          <a:ln/>
        </p:spPr>
      </p:sp>
      <p:sp>
        <p:nvSpPr>
          <p:cNvPr id="22" name="Card"/>
          <p:cNvSpPr/>
          <p:nvPr/>
        </p:nvSpPr>
        <p:spPr>
          <a:xfrm>
            <a:off x="9052560" y="1463040"/>
            <a:ext cx="2560320" cy="3291840"/>
          </a:xfrm>
          <a:prstGeom prst="roundRect">
            <a:avLst>
              <a:gd name="adj" fmla="val 3571"/>
            </a:avLst>
          </a:prstGeom>
          <a:solidFill>
            <a:schemeClr val="bg2"/>
          </a:solidFill>
          <a:ln/>
        </p:spPr>
      </p:sp>
      <p:sp>
        <p:nvSpPr>
          <p:cNvPr id="23" name="Icon circle"/>
          <p:cNvSpPr/>
          <p:nvPr/>
        </p:nvSpPr>
        <p:spPr>
          <a:xfrm>
            <a:off x="9281160" y="1691640"/>
            <a:ext cx="548640" cy="548640"/>
          </a:xfrm>
          <a:prstGeom prst="ellipse">
            <a:avLst/>
          </a:prstGeom>
          <a:solidFill>
            <a:schemeClr val="accent1"/>
          </a:solidFill>
          <a:ln/>
        </p:spPr>
      </p:sp>
      <p:pic>
        <p:nvPicPr>
          <p:cNvPr id="24" name="Image 3" descr="ChartLine icon">    </p:cNvPr>
          <p:cNvPicPr>
            <a:picLocks noChangeAspect="1"/>
          </p:cNvPicPr>
          <p:nvPr/>
        </p:nvPicPr>
        <p:blipFill>
          <a:blip r:embed="rId4"/>
          <a:stretch>
            <a:fillRect/>
          </a:stretch>
        </p:blipFill>
        <p:spPr>
          <a:xfrm>
            <a:off x="9418320" y="1828800"/>
            <a:ext cx="274320" cy="274320"/>
          </a:xfrm>
          <a:prstGeom prst="rect">
            <a:avLst/>
          </a:prstGeom>
        </p:spPr>
      </p:pic>
      <p:sp>
        <p:nvSpPr>
          <p:cNvPr id="25" name="Text 18"/>
          <p:cNvSpPr txBox="1"/>
          <p:nvPr/>
        </p:nvSpPr>
        <p:spPr>
          <a:xfrm>
            <a:off x="9281160" y="2423160"/>
            <a:ext cx="2103120" cy="365760"/>
          </a:xfrm>
          <a:prstGeom prst="rect">
            <a:avLst/>
          </a:prstGeom>
          <a:noFill/>
          <a:ln/>
        </p:spPr>
        <p:txBody>
          <a:bodyPr wrap="square" lIns="0" tIns="0" rIns="0" bIns="0" rtlCol="0" anchor="t"/>
          <a:lstStyle/>
          <a:p>
            <a:pPr indent="0" marL="0">
              <a:buNone/>
            </a:pPr>
            <a:r>
              <a:rPr lang="en-US" sz="2200" b="1" dirty="0">
                <a:solidFill>
                  <a:schemeClr val="tx2"/>
                </a:solidFill>
              </a:rPr>
              <a:t>Value</a:t>
            </a:r>
            <a:endParaRPr lang="en-US" sz="2200" dirty="0"/>
          </a:p>
        </p:txBody>
      </p:sp>
      <p:sp>
        <p:nvSpPr>
          <p:cNvPr id="26" name="Text 19"/>
          <p:cNvSpPr txBox="1"/>
          <p:nvPr/>
        </p:nvSpPr>
        <p:spPr>
          <a:xfrm>
            <a:off x="9281160" y="2926080"/>
            <a:ext cx="2148840" cy="1645920"/>
          </a:xfrm>
          <a:prstGeom prst="rect">
            <a:avLst/>
          </a:prstGeom>
          <a:noFill/>
          <a:ln/>
        </p:spPr>
        <p:txBody>
          <a:bodyPr wrap="square" lIns="0" tIns="0" rIns="0" bIns="0" rtlCol="0" anchor="t"/>
          <a:lstStyle/>
          <a:p>
            <a:pPr indent="0" marL="0">
              <a:buNone/>
            </a:pPr>
            <a:r>
              <a:rPr lang="en-US" sz="1400" dirty="0">
                <a:solidFill>
                  <a:schemeClr val="tx1"/>
                </a:solidFill>
              </a:rPr>
              <a:t>A transparent, interactive dashboard to explore physiological patterns.</a:t>
            </a:r>
            <a:endParaRPr lang="en-US" sz="1400" dirty="0"/>
          </a:p>
        </p:txBody>
      </p:sp>
      <p:sp>
        <p:nvSpPr>
          <p:cNvPr id="27" name="Card"/>
          <p:cNvSpPr/>
          <p:nvPr/>
        </p:nvSpPr>
        <p:spPr>
          <a:xfrm>
            <a:off x="548640" y="5120640"/>
            <a:ext cx="11064240" cy="731520"/>
          </a:xfrm>
          <a:prstGeom prst="roundRect">
            <a:avLst>
              <a:gd name="adj" fmla="val 12500"/>
            </a:avLst>
          </a:prstGeom>
          <a:solidFill>
            <a:schemeClr val="tx2"/>
          </a:solidFill>
          <a:ln/>
        </p:spPr>
      </p:sp>
      <p:sp>
        <p:nvSpPr>
          <p:cNvPr id="28" name="Text 21"/>
          <p:cNvSpPr txBox="1"/>
          <p:nvPr/>
        </p:nvSpPr>
        <p:spPr>
          <a:xfrm>
            <a:off x="822960" y="5120640"/>
            <a:ext cx="10515600" cy="731520"/>
          </a:xfrm>
          <a:prstGeom prst="rect">
            <a:avLst/>
          </a:prstGeom>
          <a:noFill/>
          <a:ln/>
        </p:spPr>
        <p:txBody>
          <a:bodyPr wrap="square" lIns="0" tIns="0" rIns="0" bIns="0" rtlCol="0" anchor="ctr"/>
          <a:lstStyle/>
          <a:p>
            <a:pPr indent="0" marL="0">
              <a:buNone/>
            </a:pPr>
            <a:r>
              <a:rPr lang="en-US" sz="1600" dirty="0">
                <a:solidFill>
                  <a:schemeClr val="bg1"/>
                </a:solidFill>
              </a:rPr>
              <a:t>Scope: a research workflow on synthetic or licensed anonymized data. Not a diagnostic tool.</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Problem Statement</a:t>
            </a:r>
            <a:endParaRPr lang="en-US" sz="3400" dirty="0"/>
          </a:p>
        </p:txBody>
      </p:sp>
      <p:sp>
        <p:nvSpPr>
          <p:cNvPr id="4" name="Card"/>
          <p:cNvSpPr/>
          <p:nvPr/>
        </p:nvSpPr>
        <p:spPr>
          <a:xfrm>
            <a:off x="548640" y="1463040"/>
            <a:ext cx="5394960" cy="1920240"/>
          </a:xfrm>
          <a:prstGeom prst="roundRect">
            <a:avLst>
              <a:gd name="adj" fmla="val 4762"/>
            </a:avLst>
          </a:prstGeom>
          <a:solidFill>
            <a:schemeClr val="bg2"/>
          </a:solidFill>
          <a:ln/>
        </p:spPr>
      </p:sp>
      <p:sp>
        <p:nvSpPr>
          <p:cNvPr id="5" name="Icon circle"/>
          <p:cNvSpPr/>
          <p:nvPr/>
        </p:nvSpPr>
        <p:spPr>
          <a:xfrm>
            <a:off x="822960" y="1737360"/>
            <a:ext cx="640080" cy="640080"/>
          </a:xfrm>
          <a:prstGeom prst="ellipse">
            <a:avLst/>
          </a:prstGeom>
          <a:solidFill>
            <a:schemeClr val="accent1"/>
          </a:solidFill>
          <a:ln/>
        </p:spPr>
      </p:sp>
      <p:pic>
        <p:nvPicPr>
          <p:cNvPr id="6" name="Image 0" descr="Database icon">    </p:cNvPr>
          <p:cNvPicPr>
            <a:picLocks noChangeAspect="1"/>
          </p:cNvPicPr>
          <p:nvPr/>
        </p:nvPicPr>
        <p:blipFill>
          <a:blip r:embed="rId1"/>
          <a:stretch>
            <a:fillRect/>
          </a:stretch>
        </p:blipFill>
        <p:spPr>
          <a:xfrm>
            <a:off x="982980" y="1897380"/>
            <a:ext cx="320040" cy="320040"/>
          </a:xfrm>
          <a:prstGeom prst="rect">
            <a:avLst/>
          </a:prstGeom>
        </p:spPr>
      </p:pic>
      <p:sp>
        <p:nvSpPr>
          <p:cNvPr id="7" name="Text 3"/>
          <p:cNvSpPr txBox="1"/>
          <p:nvPr/>
        </p:nvSpPr>
        <p:spPr>
          <a:xfrm>
            <a:off x="1691640" y="1737360"/>
            <a:ext cx="4023360" cy="365760"/>
          </a:xfrm>
          <a:prstGeom prst="rect">
            <a:avLst/>
          </a:prstGeom>
          <a:noFill/>
          <a:ln/>
        </p:spPr>
        <p:txBody>
          <a:bodyPr wrap="square" lIns="0" tIns="0" rIns="0" bIns="0" rtlCol="0" anchor="t"/>
          <a:lstStyle/>
          <a:p>
            <a:pPr indent="0" marL="0">
              <a:buNone/>
            </a:pPr>
            <a:r>
              <a:rPr lang="en-US" sz="2000" b="1" dirty="0">
                <a:solidFill>
                  <a:schemeClr val="tx2"/>
                </a:solidFill>
              </a:rPr>
              <a:t>Two kinds of data</a:t>
            </a:r>
            <a:endParaRPr lang="en-US" sz="2000" dirty="0"/>
          </a:p>
        </p:txBody>
      </p:sp>
      <p:sp>
        <p:nvSpPr>
          <p:cNvPr id="8" name="Text 4"/>
          <p:cNvSpPr txBox="1"/>
          <p:nvPr/>
        </p:nvSpPr>
        <p:spPr>
          <a:xfrm>
            <a:off x="1691640" y="2194560"/>
            <a:ext cx="4023360" cy="1005840"/>
          </a:xfrm>
          <a:prstGeom prst="rect">
            <a:avLst/>
          </a:prstGeom>
          <a:noFill/>
          <a:ln/>
        </p:spPr>
        <p:txBody>
          <a:bodyPr wrap="square" lIns="0" tIns="0" rIns="0" bIns="0" rtlCol="0" anchor="t"/>
          <a:lstStyle/>
          <a:p>
            <a:pPr indent="0" marL="0">
              <a:buNone/>
            </a:pPr>
            <a:r>
              <a:rPr lang="en-US" sz="1400" dirty="0">
                <a:solidFill>
                  <a:schemeClr val="tx1"/>
                </a:solidFill>
              </a:rPr>
              <a:t>Historical EHR records are static snapshots; wearables stream dynamic measurements.</a:t>
            </a:r>
            <a:endParaRPr lang="en-US" sz="1400" dirty="0"/>
          </a:p>
        </p:txBody>
      </p:sp>
      <p:sp>
        <p:nvSpPr>
          <p:cNvPr id="9" name="Card"/>
          <p:cNvSpPr/>
          <p:nvPr/>
        </p:nvSpPr>
        <p:spPr>
          <a:xfrm>
            <a:off x="6217920" y="1463040"/>
            <a:ext cx="5394960" cy="1920240"/>
          </a:xfrm>
          <a:prstGeom prst="roundRect">
            <a:avLst>
              <a:gd name="adj" fmla="val 4762"/>
            </a:avLst>
          </a:prstGeom>
          <a:solidFill>
            <a:schemeClr val="bg2"/>
          </a:solidFill>
          <a:ln/>
        </p:spPr>
      </p:sp>
      <p:sp>
        <p:nvSpPr>
          <p:cNvPr id="10" name="Icon circle"/>
          <p:cNvSpPr/>
          <p:nvPr/>
        </p:nvSpPr>
        <p:spPr>
          <a:xfrm>
            <a:off x="6492240" y="1737360"/>
            <a:ext cx="640080" cy="640080"/>
          </a:xfrm>
          <a:prstGeom prst="ellipse">
            <a:avLst/>
          </a:prstGeom>
          <a:solidFill>
            <a:schemeClr val="accent1"/>
          </a:solidFill>
          <a:ln/>
        </p:spPr>
      </p:sp>
      <p:pic>
        <p:nvPicPr>
          <p:cNvPr id="11" name="Image 1" descr="Clock icon">    </p:cNvPr>
          <p:cNvPicPr>
            <a:picLocks noChangeAspect="1"/>
          </p:cNvPicPr>
          <p:nvPr/>
        </p:nvPicPr>
        <p:blipFill>
          <a:blip r:embed="rId2"/>
          <a:stretch>
            <a:fillRect/>
          </a:stretch>
        </p:blipFill>
        <p:spPr>
          <a:xfrm>
            <a:off x="6652260" y="1897380"/>
            <a:ext cx="320040" cy="320040"/>
          </a:xfrm>
          <a:prstGeom prst="rect">
            <a:avLst/>
          </a:prstGeom>
        </p:spPr>
      </p:pic>
      <p:sp>
        <p:nvSpPr>
          <p:cNvPr id="12" name="Text 7"/>
          <p:cNvSpPr txBox="1"/>
          <p:nvPr/>
        </p:nvSpPr>
        <p:spPr>
          <a:xfrm>
            <a:off x="7360920" y="1737360"/>
            <a:ext cx="4023360" cy="365760"/>
          </a:xfrm>
          <a:prstGeom prst="rect">
            <a:avLst/>
          </a:prstGeom>
          <a:noFill/>
          <a:ln/>
        </p:spPr>
        <p:txBody>
          <a:bodyPr wrap="square" lIns="0" tIns="0" rIns="0" bIns="0" rtlCol="0" anchor="t"/>
          <a:lstStyle/>
          <a:p>
            <a:pPr indent="0" marL="0">
              <a:buNone/>
            </a:pPr>
            <a:r>
              <a:rPr lang="en-US" sz="2000" b="1" dirty="0">
                <a:solidFill>
                  <a:schemeClr val="tx2"/>
                </a:solidFill>
              </a:rPr>
              <a:t>Patterns drift over time</a:t>
            </a:r>
            <a:endParaRPr lang="en-US" sz="2000" dirty="0"/>
          </a:p>
        </p:txBody>
      </p:sp>
      <p:sp>
        <p:nvSpPr>
          <p:cNvPr id="13" name="Text 8"/>
          <p:cNvSpPr txBox="1"/>
          <p:nvPr/>
        </p:nvSpPr>
        <p:spPr>
          <a:xfrm>
            <a:off x="7360920" y="2194560"/>
            <a:ext cx="4023360" cy="1005840"/>
          </a:xfrm>
          <a:prstGeom prst="rect">
            <a:avLst/>
          </a:prstGeom>
          <a:noFill/>
          <a:ln/>
        </p:spPr>
        <p:txBody>
          <a:bodyPr wrap="square" lIns="0" tIns="0" rIns="0" bIns="0" rtlCol="0" anchor="t"/>
          <a:lstStyle/>
          <a:p>
            <a:pPr indent="0" marL="0">
              <a:buNone/>
            </a:pPr>
            <a:r>
              <a:rPr lang="en-US" sz="1400" dirty="0">
                <a:solidFill>
                  <a:schemeClr val="tx1"/>
                </a:solidFill>
              </a:rPr>
              <a:t>Physiological signals change, so a single reading misses trends and personal baselines.</a:t>
            </a:r>
            <a:endParaRPr lang="en-US" sz="1400" dirty="0"/>
          </a:p>
        </p:txBody>
      </p:sp>
      <p:sp>
        <p:nvSpPr>
          <p:cNvPr id="14" name="Card"/>
          <p:cNvSpPr/>
          <p:nvPr/>
        </p:nvSpPr>
        <p:spPr>
          <a:xfrm>
            <a:off x="548640" y="3611880"/>
            <a:ext cx="5394960" cy="1920240"/>
          </a:xfrm>
          <a:prstGeom prst="roundRect">
            <a:avLst>
              <a:gd name="adj" fmla="val 4762"/>
            </a:avLst>
          </a:prstGeom>
          <a:solidFill>
            <a:schemeClr val="bg2"/>
          </a:solidFill>
          <a:ln/>
        </p:spPr>
      </p:sp>
      <p:sp>
        <p:nvSpPr>
          <p:cNvPr id="15" name="Icon circle"/>
          <p:cNvSpPr/>
          <p:nvPr/>
        </p:nvSpPr>
        <p:spPr>
          <a:xfrm>
            <a:off x="822960" y="3886200"/>
            <a:ext cx="640080" cy="640080"/>
          </a:xfrm>
          <a:prstGeom prst="ellipse">
            <a:avLst/>
          </a:prstGeom>
          <a:solidFill>
            <a:schemeClr val="accent1"/>
          </a:solidFill>
          <a:ln/>
        </p:spPr>
      </p:sp>
      <p:pic>
        <p:nvPicPr>
          <p:cNvPr id="16" name="Image 2" descr="ExclamationTriangle icon">    </p:cNvPr>
          <p:cNvPicPr>
            <a:picLocks noChangeAspect="1"/>
          </p:cNvPicPr>
          <p:nvPr/>
        </p:nvPicPr>
        <p:blipFill>
          <a:blip r:embed="rId3"/>
          <a:stretch>
            <a:fillRect/>
          </a:stretch>
        </p:blipFill>
        <p:spPr>
          <a:xfrm>
            <a:off x="982980" y="4046220"/>
            <a:ext cx="320040" cy="320040"/>
          </a:xfrm>
          <a:prstGeom prst="rect">
            <a:avLst/>
          </a:prstGeom>
        </p:spPr>
      </p:pic>
      <p:sp>
        <p:nvSpPr>
          <p:cNvPr id="17" name="Text 11"/>
          <p:cNvSpPr txBox="1"/>
          <p:nvPr/>
        </p:nvSpPr>
        <p:spPr>
          <a:xfrm>
            <a:off x="1691640" y="3886200"/>
            <a:ext cx="4023360" cy="365760"/>
          </a:xfrm>
          <a:prstGeom prst="rect">
            <a:avLst/>
          </a:prstGeom>
          <a:noFill/>
          <a:ln/>
        </p:spPr>
        <p:txBody>
          <a:bodyPr wrap="square" lIns="0" tIns="0" rIns="0" bIns="0" rtlCol="0" anchor="t"/>
          <a:lstStyle/>
          <a:p>
            <a:pPr indent="0" marL="0">
              <a:buNone/>
            </a:pPr>
            <a:r>
              <a:rPr lang="en-US" sz="2000" b="1" dirty="0">
                <a:solidFill>
                  <a:schemeClr val="tx2"/>
                </a:solidFill>
              </a:rPr>
              <a:t>Data quality limits reliability</a:t>
            </a:r>
            <a:endParaRPr lang="en-US" sz="2000" dirty="0"/>
          </a:p>
        </p:txBody>
      </p:sp>
      <p:sp>
        <p:nvSpPr>
          <p:cNvPr id="18" name="Text 12"/>
          <p:cNvSpPr txBox="1"/>
          <p:nvPr/>
        </p:nvSpPr>
        <p:spPr>
          <a:xfrm>
            <a:off x="1691640" y="4343400"/>
            <a:ext cx="4023360" cy="1005840"/>
          </a:xfrm>
          <a:prstGeom prst="rect">
            <a:avLst/>
          </a:prstGeom>
          <a:noFill/>
          <a:ln/>
        </p:spPr>
        <p:txBody>
          <a:bodyPr wrap="square" lIns="0" tIns="0" rIns="0" bIns="0" rtlCol="0" anchor="t"/>
          <a:lstStyle/>
          <a:p>
            <a:pPr indent="0" marL="0">
              <a:buNone/>
            </a:pPr>
            <a:r>
              <a:rPr lang="en-US" sz="1400" dirty="0">
                <a:solidFill>
                  <a:schemeClr val="tx1"/>
                </a:solidFill>
              </a:rPr>
              <a:t>Missing values, duplicates, outliers and misaligned timestamps degrade models.</a:t>
            </a:r>
            <a:endParaRPr lang="en-US" sz="1400" dirty="0"/>
          </a:p>
        </p:txBody>
      </p:sp>
      <p:sp>
        <p:nvSpPr>
          <p:cNvPr id="19" name="Card"/>
          <p:cNvSpPr/>
          <p:nvPr/>
        </p:nvSpPr>
        <p:spPr>
          <a:xfrm>
            <a:off x="6217920" y="3611880"/>
            <a:ext cx="5394960" cy="1920240"/>
          </a:xfrm>
          <a:prstGeom prst="roundRect">
            <a:avLst>
              <a:gd name="adj" fmla="val 4762"/>
            </a:avLst>
          </a:prstGeom>
          <a:solidFill>
            <a:schemeClr val="bg2"/>
          </a:solidFill>
          <a:ln/>
        </p:spPr>
      </p:sp>
      <p:sp>
        <p:nvSpPr>
          <p:cNvPr id="20" name="Icon circle"/>
          <p:cNvSpPr/>
          <p:nvPr/>
        </p:nvSpPr>
        <p:spPr>
          <a:xfrm>
            <a:off x="6492240" y="3886200"/>
            <a:ext cx="640080" cy="640080"/>
          </a:xfrm>
          <a:prstGeom prst="ellipse">
            <a:avLst/>
          </a:prstGeom>
          <a:solidFill>
            <a:schemeClr val="accent1"/>
          </a:solidFill>
          <a:ln/>
        </p:spPr>
      </p:sp>
      <p:pic>
        <p:nvPicPr>
          <p:cNvPr id="21" name="Image 3" descr="BalanceScale icon">    </p:cNvPr>
          <p:cNvPicPr>
            <a:picLocks noChangeAspect="1"/>
          </p:cNvPicPr>
          <p:nvPr/>
        </p:nvPicPr>
        <p:blipFill>
          <a:blip r:embed="rId4"/>
          <a:stretch>
            <a:fillRect/>
          </a:stretch>
        </p:blipFill>
        <p:spPr>
          <a:xfrm>
            <a:off x="6652260" y="4046220"/>
            <a:ext cx="320040" cy="320040"/>
          </a:xfrm>
          <a:prstGeom prst="rect">
            <a:avLst/>
          </a:prstGeom>
        </p:spPr>
      </p:pic>
      <p:sp>
        <p:nvSpPr>
          <p:cNvPr id="22" name="Text 15"/>
          <p:cNvSpPr txBox="1"/>
          <p:nvPr/>
        </p:nvSpPr>
        <p:spPr>
          <a:xfrm>
            <a:off x="7360920" y="3886200"/>
            <a:ext cx="4023360" cy="365760"/>
          </a:xfrm>
          <a:prstGeom prst="rect">
            <a:avLst/>
          </a:prstGeom>
          <a:noFill/>
          <a:ln/>
        </p:spPr>
        <p:txBody>
          <a:bodyPr wrap="square" lIns="0" tIns="0" rIns="0" bIns="0" rtlCol="0" anchor="t"/>
          <a:lstStyle/>
          <a:p>
            <a:pPr indent="0" marL="0">
              <a:buNone/>
            </a:pPr>
            <a:r>
              <a:rPr lang="en-US" sz="2000" b="1" dirty="0">
                <a:solidFill>
                  <a:schemeClr val="tx2"/>
                </a:solidFill>
              </a:rPr>
              <a:t>Predictions must be trustworthy</a:t>
            </a:r>
            <a:endParaRPr lang="en-US" sz="2000" dirty="0"/>
          </a:p>
        </p:txBody>
      </p:sp>
      <p:sp>
        <p:nvSpPr>
          <p:cNvPr id="23" name="Text 16"/>
          <p:cNvSpPr txBox="1"/>
          <p:nvPr/>
        </p:nvSpPr>
        <p:spPr>
          <a:xfrm>
            <a:off x="7360920" y="4343400"/>
            <a:ext cx="4023360" cy="1005840"/>
          </a:xfrm>
          <a:prstGeom prst="rect">
            <a:avLst/>
          </a:prstGeom>
          <a:noFill/>
          <a:ln/>
        </p:spPr>
        <p:txBody>
          <a:bodyPr wrap="square" lIns="0" tIns="0" rIns="0" bIns="0" rtlCol="0" anchor="t"/>
          <a:lstStyle/>
          <a:p>
            <a:pPr indent="0" marL="0">
              <a:buNone/>
            </a:pPr>
            <a:r>
              <a:rPr lang="en-US" sz="1400" dirty="0">
                <a:solidFill>
                  <a:schemeClr val="tx1"/>
                </a:solidFill>
              </a:rPr>
              <a:t>Outputs need explanations and evaluation free of patient or time leakage.</a:t>
            </a:r>
            <a:endParaRPr lang="en-US" sz="1400" dirty="0"/>
          </a:p>
        </p:txBody>
      </p:sp>
      <p:sp>
        <p:nvSpPr>
          <p:cNvPr id="24" name="Text 17"/>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No prevalence or burden statistics are used on this slide; any added statistic must carry a citation.</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Proposed Healthcare Use Case</a:t>
            </a:r>
            <a:endParaRPr lang="en-US" sz="3400" dirty="0"/>
          </a:p>
        </p:txBody>
      </p:sp>
      <p:sp>
        <p:nvSpPr>
          <p:cNvPr id="4" name="Card"/>
          <p:cNvSpPr/>
          <p:nvPr/>
        </p:nvSpPr>
        <p:spPr>
          <a:xfrm>
            <a:off x="548640" y="1417320"/>
            <a:ext cx="11064240" cy="1051560"/>
          </a:xfrm>
          <a:prstGeom prst="roundRect">
            <a:avLst>
              <a:gd name="adj" fmla="val 8696"/>
            </a:avLst>
          </a:prstGeom>
          <a:solidFill>
            <a:schemeClr val="tx2"/>
          </a:solidFill>
          <a:ln/>
        </p:spPr>
      </p:sp>
      <p:sp>
        <p:nvSpPr>
          <p:cNvPr id="5" name="Text 2"/>
          <p:cNvSpPr txBox="1"/>
          <p:nvPr/>
        </p:nvSpPr>
        <p:spPr>
          <a:xfrm>
            <a:off x="822960" y="1417320"/>
            <a:ext cx="10515600" cy="1051560"/>
          </a:xfrm>
          <a:prstGeom prst="rect">
            <a:avLst/>
          </a:prstGeom>
          <a:noFill/>
          <a:ln/>
        </p:spPr>
        <p:txBody>
          <a:bodyPr wrap="square" lIns="0" tIns="0" rIns="0" bIns="0" rtlCol="0" anchor="ctr"/>
          <a:lstStyle/>
          <a:p>
            <a:pPr indent="0" marL="0">
              <a:buNone/>
            </a:pPr>
            <a:r>
              <a:rPr lang="en-US" sz="1800" dirty="0">
                <a:solidFill>
                  <a:schemeClr val="bg1"/>
                </a:solidFill>
              </a:rPr>
              <a:t>Combine synthetic historical records and simulated wearable signals to estimate elevated physiological-pattern risk over a 2-hour forward horizon.</a:t>
            </a:r>
            <a:endParaRPr lang="en-US" sz="1800" dirty="0"/>
          </a:p>
        </p:txBody>
      </p:sp>
      <p:sp>
        <p:nvSpPr>
          <p:cNvPr id="6" name="Card"/>
          <p:cNvSpPr/>
          <p:nvPr/>
        </p:nvSpPr>
        <p:spPr>
          <a:xfrm>
            <a:off x="548640" y="2743200"/>
            <a:ext cx="2560320" cy="2743200"/>
          </a:xfrm>
          <a:prstGeom prst="roundRect">
            <a:avLst>
              <a:gd name="adj" fmla="val 3571"/>
            </a:avLst>
          </a:prstGeom>
          <a:solidFill>
            <a:schemeClr val="bg2"/>
          </a:solidFill>
          <a:ln/>
        </p:spPr>
      </p:sp>
      <p:sp>
        <p:nvSpPr>
          <p:cNvPr id="7" name="Text 4"/>
          <p:cNvSpPr txBox="1"/>
          <p:nvPr/>
        </p:nvSpPr>
        <p:spPr>
          <a:xfrm>
            <a:off x="777240" y="2926080"/>
            <a:ext cx="2103120" cy="365760"/>
          </a:xfrm>
          <a:prstGeom prst="rect">
            <a:avLst/>
          </a:prstGeom>
          <a:noFill/>
          <a:ln/>
        </p:spPr>
        <p:txBody>
          <a:bodyPr wrap="square" lIns="0" tIns="0" rIns="0" bIns="0" rtlCol="0" anchor="t"/>
          <a:lstStyle/>
          <a:p>
            <a:pPr indent="0" marL="0">
              <a:buNone/>
            </a:pPr>
            <a:r>
              <a:rPr lang="en-US" sz="2000" b="1" dirty="0">
                <a:solidFill>
                  <a:schemeClr val="accent1"/>
                </a:solidFill>
              </a:rPr>
              <a:t>Example user</a:t>
            </a:r>
            <a:endParaRPr lang="en-US" sz="2000" dirty="0"/>
          </a:p>
        </p:txBody>
      </p:sp>
      <p:sp>
        <p:nvSpPr>
          <p:cNvPr id="8" name="Text 5"/>
          <p:cNvSpPr txBox="1"/>
          <p:nvPr/>
        </p:nvSpPr>
        <p:spPr>
          <a:xfrm>
            <a:off x="777240" y="3429000"/>
            <a:ext cx="21488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 synthetic patient profile</a:t>
            </a:r>
            <a:endParaRPr lang="en-US" sz="1400" dirty="0"/>
          </a:p>
          <a:p>
            <a:pPr marL="342900" indent="-342900">
              <a:spcAft>
                <a:spcPts val="600"/>
              </a:spcAft>
              <a:buSzPct val="100000"/>
              <a:buChar char="•"/>
            </a:pPr>
            <a:r>
              <a:rPr lang="en-US" sz="1400" dirty="0">
                <a:solidFill>
                  <a:schemeClr val="tx1"/>
                </a:solidFill>
              </a:rPr>
              <a:t>No real individual</a:t>
            </a:r>
            <a:endParaRPr lang="en-US" sz="1400" dirty="0"/>
          </a:p>
          <a:p>
            <a:pPr marL="342900" indent="-342900">
              <a:spcAft>
                <a:spcPts val="600"/>
              </a:spcAft>
              <a:buSzPct val="100000"/>
              <a:buChar char="•"/>
            </a:pPr>
            <a:r>
              <a:rPr lang="en-US" sz="1400" dirty="0">
                <a:solidFill>
                  <a:schemeClr val="tx1"/>
                </a:solidFill>
              </a:rPr>
              <a:t>Generated or licensed anonymized</a:t>
            </a:r>
            <a:endParaRPr lang="en-US" sz="1400" dirty="0"/>
          </a:p>
        </p:txBody>
      </p:sp>
      <p:sp>
        <p:nvSpPr>
          <p:cNvPr id="9" name="Flow arrow"/>
          <p:cNvSpPr/>
          <p:nvPr/>
        </p:nvSpPr>
        <p:spPr>
          <a:xfrm>
            <a:off x="3136392" y="4023360"/>
            <a:ext cx="274320" cy="228600"/>
          </a:xfrm>
          <a:prstGeom prst="rightArrow">
            <a:avLst/>
          </a:prstGeom>
          <a:solidFill>
            <a:schemeClr val="accent1"/>
          </a:solidFill>
          <a:ln/>
        </p:spPr>
      </p:sp>
      <p:sp>
        <p:nvSpPr>
          <p:cNvPr id="10" name="Card"/>
          <p:cNvSpPr/>
          <p:nvPr/>
        </p:nvSpPr>
        <p:spPr>
          <a:xfrm>
            <a:off x="3383280" y="2743200"/>
            <a:ext cx="2560320" cy="2743200"/>
          </a:xfrm>
          <a:prstGeom prst="roundRect">
            <a:avLst>
              <a:gd name="adj" fmla="val 3571"/>
            </a:avLst>
          </a:prstGeom>
          <a:solidFill>
            <a:schemeClr val="bg2"/>
          </a:solidFill>
          <a:ln/>
        </p:spPr>
      </p:sp>
      <p:sp>
        <p:nvSpPr>
          <p:cNvPr id="11" name="Text 8"/>
          <p:cNvSpPr txBox="1"/>
          <p:nvPr/>
        </p:nvSpPr>
        <p:spPr>
          <a:xfrm>
            <a:off x="3611880" y="2926080"/>
            <a:ext cx="2103120" cy="365760"/>
          </a:xfrm>
          <a:prstGeom prst="rect">
            <a:avLst/>
          </a:prstGeom>
          <a:noFill/>
          <a:ln/>
        </p:spPr>
        <p:txBody>
          <a:bodyPr wrap="square" lIns="0" tIns="0" rIns="0" bIns="0" rtlCol="0" anchor="t"/>
          <a:lstStyle/>
          <a:p>
            <a:pPr indent="0" marL="0">
              <a:buNone/>
            </a:pPr>
            <a:r>
              <a:rPr lang="en-US" sz="2000" b="1" dirty="0">
                <a:solidFill>
                  <a:schemeClr val="accent1"/>
                </a:solidFill>
              </a:rPr>
              <a:t>Inputs</a:t>
            </a:r>
            <a:endParaRPr lang="en-US" sz="2000" dirty="0"/>
          </a:p>
        </p:txBody>
      </p:sp>
      <p:sp>
        <p:nvSpPr>
          <p:cNvPr id="12" name="Text 9"/>
          <p:cNvSpPr txBox="1"/>
          <p:nvPr/>
        </p:nvSpPr>
        <p:spPr>
          <a:xfrm>
            <a:off x="3611880" y="3429000"/>
            <a:ext cx="21488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Historical features</a:t>
            </a:r>
            <a:endParaRPr lang="en-US" sz="1400" dirty="0"/>
          </a:p>
          <a:p>
            <a:pPr marL="342900" indent="-342900">
              <a:spcAft>
                <a:spcPts val="600"/>
              </a:spcAft>
              <a:buSzPct val="100000"/>
              <a:buChar char="•"/>
            </a:pPr>
            <a:r>
              <a:rPr lang="en-US" sz="1400" dirty="0">
                <a:solidFill>
                  <a:schemeClr val="tx1"/>
                </a:solidFill>
              </a:rPr>
              <a:t>Recent time-series observations</a:t>
            </a:r>
            <a:endParaRPr lang="en-US" sz="1400" dirty="0"/>
          </a:p>
          <a:p>
            <a:pPr marL="342900" indent="-342900">
              <a:spcAft>
                <a:spcPts val="600"/>
              </a:spcAft>
              <a:buSzPct val="100000"/>
              <a:buChar char="•"/>
            </a:pPr>
            <a:r>
              <a:rPr lang="en-US" sz="1400" dirty="0">
                <a:solidFill>
                  <a:schemeClr val="tx1"/>
                </a:solidFill>
              </a:rPr>
              <a:t>Timestamps and units</a:t>
            </a:r>
            <a:endParaRPr lang="en-US" sz="1400" dirty="0"/>
          </a:p>
        </p:txBody>
      </p:sp>
      <p:sp>
        <p:nvSpPr>
          <p:cNvPr id="13" name="Flow arrow"/>
          <p:cNvSpPr/>
          <p:nvPr/>
        </p:nvSpPr>
        <p:spPr>
          <a:xfrm>
            <a:off x="5971032" y="4023360"/>
            <a:ext cx="274320" cy="228600"/>
          </a:xfrm>
          <a:prstGeom prst="rightArrow">
            <a:avLst/>
          </a:prstGeom>
          <a:solidFill>
            <a:schemeClr val="accent1"/>
          </a:solidFill>
          <a:ln/>
        </p:spPr>
      </p:sp>
      <p:sp>
        <p:nvSpPr>
          <p:cNvPr id="14" name="Card"/>
          <p:cNvSpPr/>
          <p:nvPr/>
        </p:nvSpPr>
        <p:spPr>
          <a:xfrm>
            <a:off x="6217920" y="2743200"/>
            <a:ext cx="2560320" cy="2743200"/>
          </a:xfrm>
          <a:prstGeom prst="roundRect">
            <a:avLst>
              <a:gd name="adj" fmla="val 3571"/>
            </a:avLst>
          </a:prstGeom>
          <a:solidFill>
            <a:schemeClr val="bg2"/>
          </a:solidFill>
          <a:ln/>
        </p:spPr>
      </p:sp>
      <p:sp>
        <p:nvSpPr>
          <p:cNvPr id="15" name="Text 12"/>
          <p:cNvSpPr txBox="1"/>
          <p:nvPr/>
        </p:nvSpPr>
        <p:spPr>
          <a:xfrm>
            <a:off x="6446520" y="2926080"/>
            <a:ext cx="2103120" cy="365760"/>
          </a:xfrm>
          <a:prstGeom prst="rect">
            <a:avLst/>
          </a:prstGeom>
          <a:noFill/>
          <a:ln/>
        </p:spPr>
        <p:txBody>
          <a:bodyPr wrap="square" lIns="0" tIns="0" rIns="0" bIns="0" rtlCol="0" anchor="t"/>
          <a:lstStyle/>
          <a:p>
            <a:pPr indent="0" marL="0">
              <a:buNone/>
            </a:pPr>
            <a:r>
              <a:rPr lang="en-US" sz="2000" b="1" dirty="0">
                <a:solidFill>
                  <a:schemeClr val="accent1"/>
                </a:solidFill>
              </a:rPr>
              <a:t>Processing</a:t>
            </a:r>
            <a:endParaRPr lang="en-US" sz="2000" dirty="0"/>
          </a:p>
        </p:txBody>
      </p:sp>
      <p:sp>
        <p:nvSpPr>
          <p:cNvPr id="16" name="Text 13"/>
          <p:cNvSpPr txBox="1"/>
          <p:nvPr/>
        </p:nvSpPr>
        <p:spPr>
          <a:xfrm>
            <a:off x="6446520" y="3429000"/>
            <a:ext cx="21488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Validation checks</a:t>
            </a:r>
            <a:endParaRPr lang="en-US" sz="1400" dirty="0"/>
          </a:p>
          <a:p>
            <a:pPr marL="342900" indent="-342900">
              <a:spcAft>
                <a:spcPts val="600"/>
              </a:spcAft>
              <a:buSzPct val="100000"/>
              <a:buChar char="•"/>
            </a:pPr>
            <a:r>
              <a:rPr lang="en-US" sz="1400" dirty="0">
                <a:solidFill>
                  <a:schemeClr val="tx1"/>
                </a:solidFill>
              </a:rPr>
              <a:t>Temporal feature engineering</a:t>
            </a:r>
            <a:endParaRPr lang="en-US" sz="1400" dirty="0"/>
          </a:p>
          <a:p>
            <a:pPr marL="342900" indent="-342900">
              <a:spcAft>
                <a:spcPts val="600"/>
              </a:spcAft>
              <a:buSzPct val="100000"/>
              <a:buChar char="•"/>
            </a:pPr>
            <a:r>
              <a:rPr lang="en-US" sz="1400" dirty="0">
                <a:solidFill>
                  <a:schemeClr val="tx1"/>
                </a:solidFill>
              </a:rPr>
              <a:t>Baseline comparison</a:t>
            </a:r>
            <a:endParaRPr lang="en-US" sz="1400" dirty="0"/>
          </a:p>
        </p:txBody>
      </p:sp>
      <p:sp>
        <p:nvSpPr>
          <p:cNvPr id="17" name="Flow arrow"/>
          <p:cNvSpPr/>
          <p:nvPr/>
        </p:nvSpPr>
        <p:spPr>
          <a:xfrm>
            <a:off x="8805672" y="4023360"/>
            <a:ext cx="274320" cy="228600"/>
          </a:xfrm>
          <a:prstGeom prst="rightArrow">
            <a:avLst/>
          </a:prstGeom>
          <a:solidFill>
            <a:schemeClr val="accent1"/>
          </a:solidFill>
          <a:ln/>
        </p:spPr>
      </p:sp>
      <p:sp>
        <p:nvSpPr>
          <p:cNvPr id="18" name="Card"/>
          <p:cNvSpPr/>
          <p:nvPr/>
        </p:nvSpPr>
        <p:spPr>
          <a:xfrm>
            <a:off x="9052560" y="2743200"/>
            <a:ext cx="2560320" cy="2743200"/>
          </a:xfrm>
          <a:prstGeom prst="roundRect">
            <a:avLst>
              <a:gd name="adj" fmla="val 3571"/>
            </a:avLst>
          </a:prstGeom>
          <a:solidFill>
            <a:schemeClr val="bg2"/>
          </a:solidFill>
          <a:ln/>
        </p:spPr>
      </p:sp>
      <p:sp>
        <p:nvSpPr>
          <p:cNvPr id="19" name="Text 16"/>
          <p:cNvSpPr txBox="1"/>
          <p:nvPr/>
        </p:nvSpPr>
        <p:spPr>
          <a:xfrm>
            <a:off x="9281160" y="2926080"/>
            <a:ext cx="2103120" cy="365760"/>
          </a:xfrm>
          <a:prstGeom prst="rect">
            <a:avLst/>
          </a:prstGeom>
          <a:noFill/>
          <a:ln/>
        </p:spPr>
        <p:txBody>
          <a:bodyPr wrap="square" lIns="0" tIns="0" rIns="0" bIns="0" rtlCol="0" anchor="t"/>
          <a:lstStyle/>
          <a:p>
            <a:pPr indent="0" marL="0">
              <a:buNone/>
            </a:pPr>
            <a:r>
              <a:rPr lang="en-US" sz="2000" b="1" dirty="0">
                <a:solidFill>
                  <a:schemeClr val="accent1"/>
                </a:solidFill>
              </a:rPr>
              <a:t>Output</a:t>
            </a:r>
            <a:endParaRPr lang="en-US" sz="2000" dirty="0"/>
          </a:p>
        </p:txBody>
      </p:sp>
      <p:sp>
        <p:nvSpPr>
          <p:cNvPr id="20" name="Text 17"/>
          <p:cNvSpPr txBox="1"/>
          <p:nvPr/>
        </p:nvSpPr>
        <p:spPr>
          <a:xfrm>
            <a:off x="9281160" y="3429000"/>
            <a:ext cx="214884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Experimental estimate + horizon</a:t>
            </a:r>
            <a:endParaRPr lang="en-US" sz="1400" dirty="0"/>
          </a:p>
          <a:p>
            <a:pPr marL="342900" indent="-342900">
              <a:spcAft>
                <a:spcPts val="600"/>
              </a:spcAft>
              <a:buSzPct val="100000"/>
              <a:buChar char="•"/>
            </a:pPr>
            <a:r>
              <a:rPr lang="en-US" sz="1400" dirty="0">
                <a:solidFill>
                  <a:schemeClr val="tx1"/>
                </a:solidFill>
              </a:rPr>
              <a:t>Explanation</a:t>
            </a:r>
            <a:endParaRPr lang="en-US" sz="1400" dirty="0"/>
          </a:p>
          <a:p>
            <a:pPr marL="342900" indent="-342900">
              <a:spcAft>
                <a:spcPts val="600"/>
              </a:spcAft>
              <a:buSzPct val="100000"/>
              <a:buChar char="•"/>
            </a:pPr>
            <a:r>
              <a:rPr lang="en-US" sz="1400" dirty="0">
                <a:solidFill>
                  <a:schemeClr val="tx1"/>
                </a:solidFill>
              </a:rPr>
              <a:t>Stated limitations</a:t>
            </a:r>
            <a:endParaRPr lang="en-US" sz="1400" dirty="0"/>
          </a:p>
        </p:txBody>
      </p:sp>
      <p:sp>
        <p:nvSpPr>
          <p:cNvPr id="21" name="Text 18"/>
          <p:cNvSpPr txBox="1"/>
          <p:nvPr/>
        </p:nvSpPr>
        <p:spPr>
          <a:xfrm>
            <a:off x="548640" y="5760720"/>
            <a:ext cx="11064240" cy="320040"/>
          </a:xfrm>
          <a:prstGeom prst="rect">
            <a:avLst/>
          </a:prstGeom>
          <a:noFill/>
          <a:ln/>
        </p:spPr>
        <p:txBody>
          <a:bodyPr wrap="square" lIns="0" tIns="0" rIns="0" bIns="0" rtlCol="0" anchor="t"/>
          <a:lstStyle/>
          <a:p>
            <a:pPr indent="0" marL="0">
              <a:buNone/>
            </a:pPr>
            <a:r>
              <a:rPr lang="en-US" sz="1400" b="1" dirty="0">
                <a:solidFill>
                  <a:schemeClr val="tx2"/>
                </a:solidFill>
              </a:rPr>
              <a:t>Research estimate only: not a diagnosis, not a prediction of an actual heart attack.</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Innovation and Differentiation</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5852160"/>
                <a:gridCol w="3200400"/>
                <a:gridCol w="2011680"/>
              </a:tblGrid>
              <a:tr h="457200">
                <a:tc>
                  <a:txBody>
                    <a:bodyPr/>
                    <a:lstStyle/>
                    <a:p>
                      <a:pPr indent="0" marL="0">
                        <a:buNone/>
                      </a:pPr>
                      <a:r>
                        <a:rPr lang="en-US" sz="1400" b="1" dirty="0">
                          <a:solidFill>
                            <a:srgbClr val="FFFFFF"/>
                          </a:solidFill>
                        </a:rPr>
                        <a:t>Capability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Kind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Status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r>
              <a:tr h="457200">
                <a:tc>
                  <a:txBody>
                    <a:bodyPr/>
                    <a:lstStyle/>
                    <a:p>
                      <a:pPr indent="0" marL="0">
                        <a:buNone/>
                      </a:pPr>
                      <a:r>
                        <a:rPr lang="en-US" sz="1400" dirty="0">
                          <a:solidFill>
                            <a:srgbClr val="14213D"/>
                          </a:solidFill>
                        </a:rPr>
                        <a:t>Historical + dynamic data fusion</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Core idea</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Patient-specific baselines and time-series features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Core idea</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Digital-twin snapshot history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Core idea</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64748B"/>
                          </a:solidFill>
                        </a:rPr>
                        <a:t>VERIFY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Data-quality and provenance visibility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Core idea</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Explainable model output</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Standard technique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64748B"/>
                          </a:solidFill>
                        </a:rPr>
                        <a:t>VERIFY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Interactive what-if scenarios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Application feature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64748B"/>
                          </a:solidFill>
                        </a:rPr>
                        <a:t>VERIFY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Multilingual UI: EN, TA, HI, ML, TE, KN</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Accessibility feature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Light, dark and system themes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Standard UI feature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5" name="Text 1"/>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Implemented = visible in the live prototype. "Verify" = confirm in the demo or repository (e.g. all six languages).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End-to-End System Architecture</a:t>
            </a:r>
            <a:endParaRPr lang="en-US" sz="3400" dirty="0"/>
          </a:p>
        </p:txBody>
      </p:sp>
      <p:sp>
        <p:nvSpPr>
          <p:cNvPr id="4" name="Text 1"/>
          <p:cNvSpPr txBox="1"/>
          <p:nvPr/>
        </p:nvSpPr>
        <p:spPr>
          <a:xfrm>
            <a:off x="548640" y="1371600"/>
            <a:ext cx="1371600" cy="868680"/>
          </a:xfrm>
          <a:prstGeom prst="rect">
            <a:avLst/>
          </a:prstGeom>
          <a:noFill/>
          <a:ln/>
        </p:spPr>
        <p:txBody>
          <a:bodyPr wrap="square" lIns="0" tIns="0" rIns="0" bIns="0" rtlCol="0" anchor="ctr"/>
          <a:lstStyle/>
          <a:p>
            <a:pPr indent="0" marL="0">
              <a:buNone/>
            </a:pPr>
            <a:r>
              <a:rPr lang="en-US" sz="1400" b="1" dirty="0">
                <a:solidFill>
                  <a:schemeClr val="accent1"/>
                </a:solidFill>
              </a:rPr>
              <a:t>DATA</a:t>
            </a:r>
            <a:endParaRPr lang="en-US" sz="1400" dirty="0"/>
          </a:p>
        </p:txBody>
      </p:sp>
      <p:sp>
        <p:nvSpPr>
          <p:cNvPr id="5" name="Stage 1"/>
          <p:cNvSpPr/>
          <p:nvPr/>
        </p:nvSpPr>
        <p:spPr>
          <a:xfrm>
            <a:off x="2103120" y="1371600"/>
            <a:ext cx="2011680" cy="868680"/>
          </a:xfrm>
          <a:prstGeom prst="roundRect">
            <a:avLst>
              <a:gd name="adj" fmla="val 10526"/>
            </a:avLst>
          </a:prstGeom>
          <a:solidFill>
            <a:schemeClr val="bg2"/>
          </a:solidFill>
          <a:ln/>
        </p:spPr>
      </p:sp>
      <p:sp>
        <p:nvSpPr>
          <p:cNvPr id="6" name="Shape 3"/>
          <p:cNvSpPr/>
          <p:nvPr/>
        </p:nvSpPr>
        <p:spPr>
          <a:xfrm>
            <a:off x="2194560" y="1463040"/>
            <a:ext cx="310896" cy="310896"/>
          </a:xfrm>
          <a:prstGeom prst="ellipse">
            <a:avLst/>
          </a:prstGeom>
          <a:solidFill>
            <a:schemeClr val="accent1"/>
          </a:solidFill>
          <a:ln/>
        </p:spPr>
      </p:sp>
      <p:sp>
        <p:nvSpPr>
          <p:cNvPr id="7" name="Text 4"/>
          <p:cNvSpPr txBox="1"/>
          <p:nvPr/>
        </p:nvSpPr>
        <p:spPr>
          <a:xfrm>
            <a:off x="2194560" y="146304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5"/>
          <p:cNvSpPr txBox="1"/>
          <p:nvPr/>
        </p:nvSpPr>
        <p:spPr>
          <a:xfrm>
            <a:off x="2560320" y="144475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Synthetic EHR source</a:t>
            </a:r>
            <a:endParaRPr lang="en-US" sz="1400" dirty="0"/>
          </a:p>
        </p:txBody>
      </p:sp>
      <p:sp>
        <p:nvSpPr>
          <p:cNvPr id="9" name="Status Implemented"/>
          <p:cNvSpPr/>
          <p:nvPr/>
        </p:nvSpPr>
        <p:spPr>
          <a:xfrm>
            <a:off x="2103120" y="2286000"/>
            <a:ext cx="1051560" cy="237744"/>
          </a:xfrm>
          <a:prstGeom prst="roundRect">
            <a:avLst>
              <a:gd name="adj" fmla="val 50000"/>
            </a:avLst>
          </a:prstGeom>
          <a:solidFill>
            <a:schemeClr val="accent5"/>
          </a:solidFill>
          <a:ln/>
        </p:spPr>
      </p:sp>
      <p:sp>
        <p:nvSpPr>
          <p:cNvPr id="10" name="Text 7"/>
          <p:cNvSpPr txBox="1"/>
          <p:nvPr/>
        </p:nvSpPr>
        <p:spPr>
          <a:xfrm>
            <a:off x="2103120" y="228600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11" name="Flow arrow"/>
          <p:cNvSpPr/>
          <p:nvPr/>
        </p:nvSpPr>
        <p:spPr>
          <a:xfrm>
            <a:off x="4142232" y="1673352"/>
            <a:ext cx="310896" cy="256032"/>
          </a:xfrm>
          <a:prstGeom prst="rightArrow">
            <a:avLst/>
          </a:prstGeom>
          <a:solidFill>
            <a:schemeClr val="accent1"/>
          </a:solidFill>
          <a:ln/>
        </p:spPr>
      </p:sp>
      <p:sp>
        <p:nvSpPr>
          <p:cNvPr id="12" name="Stage 2"/>
          <p:cNvSpPr/>
          <p:nvPr/>
        </p:nvSpPr>
        <p:spPr>
          <a:xfrm>
            <a:off x="4480560" y="1371600"/>
            <a:ext cx="2011680" cy="868680"/>
          </a:xfrm>
          <a:prstGeom prst="roundRect">
            <a:avLst>
              <a:gd name="adj" fmla="val 10526"/>
            </a:avLst>
          </a:prstGeom>
          <a:solidFill>
            <a:schemeClr val="bg2"/>
          </a:solidFill>
          <a:ln/>
        </p:spPr>
      </p:sp>
      <p:sp>
        <p:nvSpPr>
          <p:cNvPr id="13" name="Shape 10"/>
          <p:cNvSpPr/>
          <p:nvPr/>
        </p:nvSpPr>
        <p:spPr>
          <a:xfrm>
            <a:off x="4572000" y="1463040"/>
            <a:ext cx="310896" cy="310896"/>
          </a:xfrm>
          <a:prstGeom prst="ellipse">
            <a:avLst/>
          </a:prstGeom>
          <a:solidFill>
            <a:schemeClr val="accent1"/>
          </a:solidFill>
          <a:ln/>
        </p:spPr>
      </p:sp>
      <p:sp>
        <p:nvSpPr>
          <p:cNvPr id="14" name="Text 11"/>
          <p:cNvSpPr txBox="1"/>
          <p:nvPr/>
        </p:nvSpPr>
        <p:spPr>
          <a:xfrm>
            <a:off x="4572000" y="146304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5" name="Text 12"/>
          <p:cNvSpPr txBox="1"/>
          <p:nvPr/>
        </p:nvSpPr>
        <p:spPr>
          <a:xfrm>
            <a:off x="4937760" y="144475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Simulated wearable series</a:t>
            </a:r>
            <a:endParaRPr lang="en-US" sz="1400" dirty="0"/>
          </a:p>
        </p:txBody>
      </p:sp>
      <p:sp>
        <p:nvSpPr>
          <p:cNvPr id="16" name="Status Implemented"/>
          <p:cNvSpPr/>
          <p:nvPr/>
        </p:nvSpPr>
        <p:spPr>
          <a:xfrm>
            <a:off x="4480560" y="2286000"/>
            <a:ext cx="1051560" cy="237744"/>
          </a:xfrm>
          <a:prstGeom prst="roundRect">
            <a:avLst>
              <a:gd name="adj" fmla="val 50000"/>
            </a:avLst>
          </a:prstGeom>
          <a:solidFill>
            <a:schemeClr val="accent5"/>
          </a:solidFill>
          <a:ln/>
        </p:spPr>
      </p:sp>
      <p:sp>
        <p:nvSpPr>
          <p:cNvPr id="17" name="Text 14"/>
          <p:cNvSpPr txBox="1"/>
          <p:nvPr/>
        </p:nvSpPr>
        <p:spPr>
          <a:xfrm>
            <a:off x="4480560" y="228600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18" name="Flow arrow"/>
          <p:cNvSpPr/>
          <p:nvPr/>
        </p:nvSpPr>
        <p:spPr>
          <a:xfrm>
            <a:off x="6519672" y="1673352"/>
            <a:ext cx="310896" cy="256032"/>
          </a:xfrm>
          <a:prstGeom prst="rightArrow">
            <a:avLst/>
          </a:prstGeom>
          <a:solidFill>
            <a:schemeClr val="accent1"/>
          </a:solidFill>
          <a:ln/>
        </p:spPr>
      </p:sp>
      <p:sp>
        <p:nvSpPr>
          <p:cNvPr id="19" name="Stage 3"/>
          <p:cNvSpPr/>
          <p:nvPr/>
        </p:nvSpPr>
        <p:spPr>
          <a:xfrm>
            <a:off x="6858000" y="1371600"/>
            <a:ext cx="2011680" cy="868680"/>
          </a:xfrm>
          <a:prstGeom prst="roundRect">
            <a:avLst>
              <a:gd name="adj" fmla="val 10526"/>
            </a:avLst>
          </a:prstGeom>
          <a:solidFill>
            <a:schemeClr val="bg2"/>
          </a:solidFill>
          <a:ln/>
        </p:spPr>
      </p:sp>
      <p:sp>
        <p:nvSpPr>
          <p:cNvPr id="20" name="Shape 17"/>
          <p:cNvSpPr/>
          <p:nvPr/>
        </p:nvSpPr>
        <p:spPr>
          <a:xfrm>
            <a:off x="6949440" y="1463040"/>
            <a:ext cx="310896" cy="310896"/>
          </a:xfrm>
          <a:prstGeom prst="ellipse">
            <a:avLst/>
          </a:prstGeom>
          <a:solidFill>
            <a:schemeClr val="accent1"/>
          </a:solidFill>
          <a:ln/>
        </p:spPr>
      </p:sp>
      <p:sp>
        <p:nvSpPr>
          <p:cNvPr id="21" name="Text 18"/>
          <p:cNvSpPr txBox="1"/>
          <p:nvPr/>
        </p:nvSpPr>
        <p:spPr>
          <a:xfrm>
            <a:off x="6949440" y="146304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22" name="Text 19"/>
          <p:cNvSpPr txBox="1"/>
          <p:nvPr/>
        </p:nvSpPr>
        <p:spPr>
          <a:xfrm>
            <a:off x="7315200" y="144475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Data validation</a:t>
            </a:r>
            <a:endParaRPr lang="en-US" sz="1400" dirty="0"/>
          </a:p>
        </p:txBody>
      </p:sp>
      <p:sp>
        <p:nvSpPr>
          <p:cNvPr id="23" name="Status Verify"/>
          <p:cNvSpPr/>
          <p:nvPr/>
        </p:nvSpPr>
        <p:spPr>
          <a:xfrm>
            <a:off x="6858000" y="2286000"/>
            <a:ext cx="1051560" cy="237744"/>
          </a:xfrm>
          <a:prstGeom prst="roundRect">
            <a:avLst>
              <a:gd name="adj" fmla="val 50000"/>
            </a:avLst>
          </a:prstGeom>
          <a:solidFill>
            <a:schemeClr val="accent6"/>
          </a:solidFill>
          <a:ln/>
        </p:spPr>
      </p:sp>
      <p:sp>
        <p:nvSpPr>
          <p:cNvPr id="24" name="Text 21"/>
          <p:cNvSpPr txBox="1"/>
          <p:nvPr/>
        </p:nvSpPr>
        <p:spPr>
          <a:xfrm>
            <a:off x="6858000" y="228600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VERIFY</a:t>
            </a:r>
            <a:endParaRPr lang="en-US" sz="1000" dirty="0"/>
          </a:p>
        </p:txBody>
      </p:sp>
      <p:sp>
        <p:nvSpPr>
          <p:cNvPr id="25" name="Flow arrow"/>
          <p:cNvSpPr/>
          <p:nvPr/>
        </p:nvSpPr>
        <p:spPr>
          <a:xfrm>
            <a:off x="1005840" y="2468880"/>
            <a:ext cx="274320" cy="274320"/>
          </a:xfrm>
          <a:prstGeom prst="downArrow">
            <a:avLst/>
          </a:prstGeom>
          <a:solidFill>
            <a:schemeClr val="accent1"/>
          </a:solidFill>
          <a:ln/>
        </p:spPr>
      </p:sp>
      <p:sp>
        <p:nvSpPr>
          <p:cNvPr id="26" name="Text 23"/>
          <p:cNvSpPr txBox="1"/>
          <p:nvPr/>
        </p:nvSpPr>
        <p:spPr>
          <a:xfrm>
            <a:off x="548640" y="2834640"/>
            <a:ext cx="1371600" cy="868680"/>
          </a:xfrm>
          <a:prstGeom prst="rect">
            <a:avLst/>
          </a:prstGeom>
          <a:noFill/>
          <a:ln/>
        </p:spPr>
        <p:txBody>
          <a:bodyPr wrap="square" lIns="0" tIns="0" rIns="0" bIns="0" rtlCol="0" anchor="ctr"/>
          <a:lstStyle/>
          <a:p>
            <a:pPr indent="0" marL="0">
              <a:buNone/>
            </a:pPr>
            <a:r>
              <a:rPr lang="en-US" sz="1400" b="1" dirty="0">
                <a:solidFill>
                  <a:schemeClr val="accent1"/>
                </a:solidFill>
              </a:rPr>
              <a:t>INTELLIGENCE</a:t>
            </a:r>
            <a:endParaRPr lang="en-US" sz="1400" dirty="0"/>
          </a:p>
        </p:txBody>
      </p:sp>
      <p:sp>
        <p:nvSpPr>
          <p:cNvPr id="27" name="Stage 4"/>
          <p:cNvSpPr/>
          <p:nvPr/>
        </p:nvSpPr>
        <p:spPr>
          <a:xfrm>
            <a:off x="2103120" y="2834640"/>
            <a:ext cx="2011680" cy="868680"/>
          </a:xfrm>
          <a:prstGeom prst="roundRect">
            <a:avLst>
              <a:gd name="adj" fmla="val 10526"/>
            </a:avLst>
          </a:prstGeom>
          <a:solidFill>
            <a:schemeClr val="bg2"/>
          </a:solidFill>
          <a:ln/>
        </p:spPr>
      </p:sp>
      <p:sp>
        <p:nvSpPr>
          <p:cNvPr id="28" name="Shape 25"/>
          <p:cNvSpPr/>
          <p:nvPr/>
        </p:nvSpPr>
        <p:spPr>
          <a:xfrm>
            <a:off x="2194560" y="2926080"/>
            <a:ext cx="310896" cy="310896"/>
          </a:xfrm>
          <a:prstGeom prst="ellipse">
            <a:avLst/>
          </a:prstGeom>
          <a:solidFill>
            <a:schemeClr val="accent1"/>
          </a:solidFill>
          <a:ln/>
        </p:spPr>
      </p:sp>
      <p:sp>
        <p:nvSpPr>
          <p:cNvPr id="29" name="Text 26"/>
          <p:cNvSpPr txBox="1"/>
          <p:nvPr/>
        </p:nvSpPr>
        <p:spPr>
          <a:xfrm>
            <a:off x="2194560" y="292608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30" name="Text 27"/>
          <p:cNvSpPr txBox="1"/>
          <p:nvPr/>
        </p:nvSpPr>
        <p:spPr>
          <a:xfrm>
            <a:off x="2560320" y="290779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Temporal feature engineering</a:t>
            </a:r>
            <a:endParaRPr lang="en-US" sz="1400" dirty="0"/>
          </a:p>
        </p:txBody>
      </p:sp>
      <p:sp>
        <p:nvSpPr>
          <p:cNvPr id="31" name="Status Verify"/>
          <p:cNvSpPr/>
          <p:nvPr/>
        </p:nvSpPr>
        <p:spPr>
          <a:xfrm>
            <a:off x="2103120" y="3749040"/>
            <a:ext cx="1051560" cy="237744"/>
          </a:xfrm>
          <a:prstGeom prst="roundRect">
            <a:avLst>
              <a:gd name="adj" fmla="val 50000"/>
            </a:avLst>
          </a:prstGeom>
          <a:solidFill>
            <a:schemeClr val="accent6"/>
          </a:solidFill>
          <a:ln/>
        </p:spPr>
      </p:sp>
      <p:sp>
        <p:nvSpPr>
          <p:cNvPr id="32" name="Text 29"/>
          <p:cNvSpPr txBox="1"/>
          <p:nvPr/>
        </p:nvSpPr>
        <p:spPr>
          <a:xfrm>
            <a:off x="2103120" y="374904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VERIFY</a:t>
            </a:r>
            <a:endParaRPr lang="en-US" sz="1000" dirty="0"/>
          </a:p>
        </p:txBody>
      </p:sp>
      <p:sp>
        <p:nvSpPr>
          <p:cNvPr id="33" name="Flow arrow"/>
          <p:cNvSpPr/>
          <p:nvPr/>
        </p:nvSpPr>
        <p:spPr>
          <a:xfrm>
            <a:off x="4142232" y="3136392"/>
            <a:ext cx="310896" cy="256032"/>
          </a:xfrm>
          <a:prstGeom prst="rightArrow">
            <a:avLst/>
          </a:prstGeom>
          <a:solidFill>
            <a:schemeClr val="accent1"/>
          </a:solidFill>
          <a:ln/>
        </p:spPr>
      </p:sp>
      <p:sp>
        <p:nvSpPr>
          <p:cNvPr id="34" name="Stage 5"/>
          <p:cNvSpPr/>
          <p:nvPr/>
        </p:nvSpPr>
        <p:spPr>
          <a:xfrm>
            <a:off x="4480560" y="2834640"/>
            <a:ext cx="2011680" cy="868680"/>
          </a:xfrm>
          <a:prstGeom prst="roundRect">
            <a:avLst>
              <a:gd name="adj" fmla="val 10526"/>
            </a:avLst>
          </a:prstGeom>
          <a:solidFill>
            <a:schemeClr val="bg2"/>
          </a:solidFill>
          <a:ln/>
        </p:spPr>
      </p:sp>
      <p:sp>
        <p:nvSpPr>
          <p:cNvPr id="35" name="Shape 32"/>
          <p:cNvSpPr/>
          <p:nvPr/>
        </p:nvSpPr>
        <p:spPr>
          <a:xfrm>
            <a:off x="4572000" y="2926080"/>
            <a:ext cx="310896" cy="310896"/>
          </a:xfrm>
          <a:prstGeom prst="ellipse">
            <a:avLst/>
          </a:prstGeom>
          <a:solidFill>
            <a:schemeClr val="accent1"/>
          </a:solidFill>
          <a:ln/>
        </p:spPr>
      </p:sp>
      <p:sp>
        <p:nvSpPr>
          <p:cNvPr id="36" name="Text 33"/>
          <p:cNvSpPr txBox="1"/>
          <p:nvPr/>
        </p:nvSpPr>
        <p:spPr>
          <a:xfrm>
            <a:off x="4572000" y="292608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7" name="Text 34"/>
          <p:cNvSpPr txBox="1"/>
          <p:nvPr/>
        </p:nvSpPr>
        <p:spPr>
          <a:xfrm>
            <a:off x="4937760" y="290779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Digital-twin state and snapshots</a:t>
            </a:r>
            <a:endParaRPr lang="en-US" sz="1400" dirty="0"/>
          </a:p>
        </p:txBody>
      </p:sp>
      <p:sp>
        <p:nvSpPr>
          <p:cNvPr id="38" name="Status Implemented"/>
          <p:cNvSpPr/>
          <p:nvPr/>
        </p:nvSpPr>
        <p:spPr>
          <a:xfrm>
            <a:off x="4480560" y="3749040"/>
            <a:ext cx="1051560" cy="237744"/>
          </a:xfrm>
          <a:prstGeom prst="roundRect">
            <a:avLst>
              <a:gd name="adj" fmla="val 50000"/>
            </a:avLst>
          </a:prstGeom>
          <a:solidFill>
            <a:schemeClr val="accent5"/>
          </a:solidFill>
          <a:ln/>
        </p:spPr>
      </p:sp>
      <p:sp>
        <p:nvSpPr>
          <p:cNvPr id="39" name="Text 36"/>
          <p:cNvSpPr txBox="1"/>
          <p:nvPr/>
        </p:nvSpPr>
        <p:spPr>
          <a:xfrm>
            <a:off x="4480560" y="374904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40" name="Flow arrow"/>
          <p:cNvSpPr/>
          <p:nvPr/>
        </p:nvSpPr>
        <p:spPr>
          <a:xfrm>
            <a:off x="6519672" y="3136392"/>
            <a:ext cx="310896" cy="256032"/>
          </a:xfrm>
          <a:prstGeom prst="rightArrow">
            <a:avLst/>
          </a:prstGeom>
          <a:solidFill>
            <a:schemeClr val="accent1"/>
          </a:solidFill>
          <a:ln/>
        </p:spPr>
      </p:sp>
      <p:sp>
        <p:nvSpPr>
          <p:cNvPr id="41" name="Stage 6"/>
          <p:cNvSpPr/>
          <p:nvPr/>
        </p:nvSpPr>
        <p:spPr>
          <a:xfrm>
            <a:off x="6858000" y="2834640"/>
            <a:ext cx="2011680" cy="868680"/>
          </a:xfrm>
          <a:prstGeom prst="roundRect">
            <a:avLst>
              <a:gd name="adj" fmla="val 10526"/>
            </a:avLst>
          </a:prstGeom>
          <a:solidFill>
            <a:schemeClr val="bg2"/>
          </a:solidFill>
          <a:ln/>
        </p:spPr>
      </p:sp>
      <p:sp>
        <p:nvSpPr>
          <p:cNvPr id="42" name="Shape 39"/>
          <p:cNvSpPr/>
          <p:nvPr/>
        </p:nvSpPr>
        <p:spPr>
          <a:xfrm>
            <a:off x="6949440" y="2926080"/>
            <a:ext cx="310896" cy="310896"/>
          </a:xfrm>
          <a:prstGeom prst="ellipse">
            <a:avLst/>
          </a:prstGeom>
          <a:solidFill>
            <a:schemeClr val="accent1"/>
          </a:solidFill>
          <a:ln/>
        </p:spPr>
      </p:sp>
      <p:sp>
        <p:nvSpPr>
          <p:cNvPr id="43" name="Text 40"/>
          <p:cNvSpPr txBox="1"/>
          <p:nvPr/>
        </p:nvSpPr>
        <p:spPr>
          <a:xfrm>
            <a:off x="6949440" y="292608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44" name="Text 41"/>
          <p:cNvSpPr txBox="1"/>
          <p:nvPr/>
        </p:nvSpPr>
        <p:spPr>
          <a:xfrm>
            <a:off x="7315200" y="290779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Trained ML model and inference</a:t>
            </a:r>
            <a:endParaRPr lang="en-US" sz="1400" dirty="0"/>
          </a:p>
        </p:txBody>
      </p:sp>
      <p:sp>
        <p:nvSpPr>
          <p:cNvPr id="45" name="Status Verify"/>
          <p:cNvSpPr/>
          <p:nvPr/>
        </p:nvSpPr>
        <p:spPr>
          <a:xfrm>
            <a:off x="6858000" y="3749040"/>
            <a:ext cx="1051560" cy="237744"/>
          </a:xfrm>
          <a:prstGeom prst="roundRect">
            <a:avLst>
              <a:gd name="adj" fmla="val 50000"/>
            </a:avLst>
          </a:prstGeom>
          <a:solidFill>
            <a:schemeClr val="accent6"/>
          </a:solidFill>
          <a:ln/>
        </p:spPr>
      </p:sp>
      <p:sp>
        <p:nvSpPr>
          <p:cNvPr id="46" name="Text 43"/>
          <p:cNvSpPr txBox="1"/>
          <p:nvPr/>
        </p:nvSpPr>
        <p:spPr>
          <a:xfrm>
            <a:off x="6858000" y="374904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VERIFY</a:t>
            </a:r>
            <a:endParaRPr lang="en-US" sz="1000" dirty="0"/>
          </a:p>
        </p:txBody>
      </p:sp>
      <p:sp>
        <p:nvSpPr>
          <p:cNvPr id="47" name="Flow arrow"/>
          <p:cNvSpPr/>
          <p:nvPr/>
        </p:nvSpPr>
        <p:spPr>
          <a:xfrm>
            <a:off x="8897112" y="3136392"/>
            <a:ext cx="310896" cy="256032"/>
          </a:xfrm>
          <a:prstGeom prst="rightArrow">
            <a:avLst/>
          </a:prstGeom>
          <a:solidFill>
            <a:schemeClr val="accent1"/>
          </a:solidFill>
          <a:ln/>
        </p:spPr>
      </p:sp>
      <p:sp>
        <p:nvSpPr>
          <p:cNvPr id="48" name="Stage 7"/>
          <p:cNvSpPr/>
          <p:nvPr/>
        </p:nvSpPr>
        <p:spPr>
          <a:xfrm>
            <a:off x="9235440" y="2834640"/>
            <a:ext cx="2011680" cy="868680"/>
          </a:xfrm>
          <a:prstGeom prst="roundRect">
            <a:avLst>
              <a:gd name="adj" fmla="val 10526"/>
            </a:avLst>
          </a:prstGeom>
          <a:solidFill>
            <a:schemeClr val="bg2"/>
          </a:solidFill>
          <a:ln/>
        </p:spPr>
      </p:sp>
      <p:sp>
        <p:nvSpPr>
          <p:cNvPr id="49" name="Shape 46"/>
          <p:cNvSpPr/>
          <p:nvPr/>
        </p:nvSpPr>
        <p:spPr>
          <a:xfrm>
            <a:off x="9326880" y="2926080"/>
            <a:ext cx="310896" cy="310896"/>
          </a:xfrm>
          <a:prstGeom prst="ellipse">
            <a:avLst/>
          </a:prstGeom>
          <a:solidFill>
            <a:schemeClr val="accent1"/>
          </a:solidFill>
          <a:ln/>
        </p:spPr>
      </p:sp>
      <p:sp>
        <p:nvSpPr>
          <p:cNvPr id="50" name="Text 47"/>
          <p:cNvSpPr txBox="1"/>
          <p:nvPr/>
        </p:nvSpPr>
        <p:spPr>
          <a:xfrm>
            <a:off x="9326880" y="292608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51" name="Text 48"/>
          <p:cNvSpPr txBox="1"/>
          <p:nvPr/>
        </p:nvSpPr>
        <p:spPr>
          <a:xfrm>
            <a:off x="9692640" y="290779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Explainability and evaluation</a:t>
            </a:r>
            <a:endParaRPr lang="en-US" sz="1400" dirty="0"/>
          </a:p>
        </p:txBody>
      </p:sp>
      <p:sp>
        <p:nvSpPr>
          <p:cNvPr id="52" name="Status Verify"/>
          <p:cNvSpPr/>
          <p:nvPr/>
        </p:nvSpPr>
        <p:spPr>
          <a:xfrm>
            <a:off x="9235440" y="3749040"/>
            <a:ext cx="1051560" cy="237744"/>
          </a:xfrm>
          <a:prstGeom prst="roundRect">
            <a:avLst>
              <a:gd name="adj" fmla="val 50000"/>
            </a:avLst>
          </a:prstGeom>
          <a:solidFill>
            <a:schemeClr val="accent6"/>
          </a:solidFill>
          <a:ln/>
        </p:spPr>
      </p:sp>
      <p:sp>
        <p:nvSpPr>
          <p:cNvPr id="53" name="Text 50"/>
          <p:cNvSpPr txBox="1"/>
          <p:nvPr/>
        </p:nvSpPr>
        <p:spPr>
          <a:xfrm>
            <a:off x="9235440" y="374904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VERIFY</a:t>
            </a:r>
            <a:endParaRPr lang="en-US" sz="1000" dirty="0"/>
          </a:p>
        </p:txBody>
      </p:sp>
      <p:sp>
        <p:nvSpPr>
          <p:cNvPr id="54" name="Flow arrow"/>
          <p:cNvSpPr/>
          <p:nvPr/>
        </p:nvSpPr>
        <p:spPr>
          <a:xfrm>
            <a:off x="1005840" y="3931920"/>
            <a:ext cx="274320" cy="274320"/>
          </a:xfrm>
          <a:prstGeom prst="downArrow">
            <a:avLst/>
          </a:prstGeom>
          <a:solidFill>
            <a:schemeClr val="accent1"/>
          </a:solidFill>
          <a:ln/>
        </p:spPr>
      </p:sp>
      <p:sp>
        <p:nvSpPr>
          <p:cNvPr id="55" name="Text 52"/>
          <p:cNvSpPr txBox="1"/>
          <p:nvPr/>
        </p:nvSpPr>
        <p:spPr>
          <a:xfrm>
            <a:off x="548640" y="4297680"/>
            <a:ext cx="1371600" cy="868680"/>
          </a:xfrm>
          <a:prstGeom prst="rect">
            <a:avLst/>
          </a:prstGeom>
          <a:noFill/>
          <a:ln/>
        </p:spPr>
        <p:txBody>
          <a:bodyPr wrap="square" lIns="0" tIns="0" rIns="0" bIns="0" rtlCol="0" anchor="ctr"/>
          <a:lstStyle/>
          <a:p>
            <a:pPr indent="0" marL="0">
              <a:buNone/>
            </a:pPr>
            <a:r>
              <a:rPr lang="en-US" sz="1400" b="1" dirty="0">
                <a:solidFill>
                  <a:schemeClr val="accent1"/>
                </a:solidFill>
              </a:rPr>
              <a:t>APPLICATION</a:t>
            </a:r>
            <a:endParaRPr lang="en-US" sz="1400" dirty="0"/>
          </a:p>
        </p:txBody>
      </p:sp>
      <p:sp>
        <p:nvSpPr>
          <p:cNvPr id="56" name="Stage 8"/>
          <p:cNvSpPr/>
          <p:nvPr/>
        </p:nvSpPr>
        <p:spPr>
          <a:xfrm>
            <a:off x="2103120" y="4297680"/>
            <a:ext cx="2011680" cy="868680"/>
          </a:xfrm>
          <a:prstGeom prst="roundRect">
            <a:avLst>
              <a:gd name="adj" fmla="val 10526"/>
            </a:avLst>
          </a:prstGeom>
          <a:solidFill>
            <a:schemeClr val="bg2"/>
          </a:solidFill>
          <a:ln/>
        </p:spPr>
      </p:sp>
      <p:sp>
        <p:nvSpPr>
          <p:cNvPr id="57" name="Shape 54"/>
          <p:cNvSpPr/>
          <p:nvPr/>
        </p:nvSpPr>
        <p:spPr>
          <a:xfrm>
            <a:off x="2194560" y="4389120"/>
            <a:ext cx="310896" cy="310896"/>
          </a:xfrm>
          <a:prstGeom prst="ellipse">
            <a:avLst/>
          </a:prstGeom>
          <a:solidFill>
            <a:schemeClr val="accent1"/>
          </a:solidFill>
          <a:ln/>
        </p:spPr>
      </p:sp>
      <p:sp>
        <p:nvSpPr>
          <p:cNvPr id="58" name="Text 55"/>
          <p:cNvSpPr txBox="1"/>
          <p:nvPr/>
        </p:nvSpPr>
        <p:spPr>
          <a:xfrm>
            <a:off x="2194560" y="43891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59" name="Text 56"/>
          <p:cNvSpPr txBox="1"/>
          <p:nvPr/>
        </p:nvSpPr>
        <p:spPr>
          <a:xfrm>
            <a:off x="2560320" y="437083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Backend API and persistence</a:t>
            </a:r>
            <a:endParaRPr lang="en-US" sz="1400" dirty="0"/>
          </a:p>
        </p:txBody>
      </p:sp>
      <p:sp>
        <p:nvSpPr>
          <p:cNvPr id="60" name="Status Verify"/>
          <p:cNvSpPr/>
          <p:nvPr/>
        </p:nvSpPr>
        <p:spPr>
          <a:xfrm>
            <a:off x="2103120" y="5212080"/>
            <a:ext cx="1051560" cy="237744"/>
          </a:xfrm>
          <a:prstGeom prst="roundRect">
            <a:avLst>
              <a:gd name="adj" fmla="val 50000"/>
            </a:avLst>
          </a:prstGeom>
          <a:solidFill>
            <a:schemeClr val="accent6"/>
          </a:solidFill>
          <a:ln/>
        </p:spPr>
      </p:sp>
      <p:sp>
        <p:nvSpPr>
          <p:cNvPr id="61" name="Text 58"/>
          <p:cNvSpPr txBox="1"/>
          <p:nvPr/>
        </p:nvSpPr>
        <p:spPr>
          <a:xfrm>
            <a:off x="2103120" y="521208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VERIFY</a:t>
            </a:r>
            <a:endParaRPr lang="en-US" sz="1000" dirty="0"/>
          </a:p>
        </p:txBody>
      </p:sp>
      <p:sp>
        <p:nvSpPr>
          <p:cNvPr id="62" name="Flow arrow"/>
          <p:cNvSpPr/>
          <p:nvPr/>
        </p:nvSpPr>
        <p:spPr>
          <a:xfrm>
            <a:off x="4142232" y="4599432"/>
            <a:ext cx="310896" cy="256032"/>
          </a:xfrm>
          <a:prstGeom prst="rightArrow">
            <a:avLst/>
          </a:prstGeom>
          <a:solidFill>
            <a:schemeClr val="accent1"/>
          </a:solidFill>
          <a:ln/>
        </p:spPr>
      </p:sp>
      <p:sp>
        <p:nvSpPr>
          <p:cNvPr id="63" name="Stage 9"/>
          <p:cNvSpPr/>
          <p:nvPr/>
        </p:nvSpPr>
        <p:spPr>
          <a:xfrm>
            <a:off x="4480560" y="4297680"/>
            <a:ext cx="2011680" cy="868680"/>
          </a:xfrm>
          <a:prstGeom prst="roundRect">
            <a:avLst>
              <a:gd name="adj" fmla="val 10526"/>
            </a:avLst>
          </a:prstGeom>
          <a:solidFill>
            <a:schemeClr val="bg2"/>
          </a:solidFill>
          <a:ln/>
        </p:spPr>
      </p:sp>
      <p:sp>
        <p:nvSpPr>
          <p:cNvPr id="64" name="Shape 61"/>
          <p:cNvSpPr/>
          <p:nvPr/>
        </p:nvSpPr>
        <p:spPr>
          <a:xfrm>
            <a:off x="4572000" y="4389120"/>
            <a:ext cx="310896" cy="310896"/>
          </a:xfrm>
          <a:prstGeom prst="ellipse">
            <a:avLst/>
          </a:prstGeom>
          <a:solidFill>
            <a:schemeClr val="accent1"/>
          </a:solidFill>
          <a:ln/>
        </p:spPr>
      </p:sp>
      <p:sp>
        <p:nvSpPr>
          <p:cNvPr id="65" name="Text 62"/>
          <p:cNvSpPr txBox="1"/>
          <p:nvPr/>
        </p:nvSpPr>
        <p:spPr>
          <a:xfrm>
            <a:off x="4572000" y="4389120"/>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66" name="Text 63"/>
          <p:cNvSpPr txBox="1"/>
          <p:nvPr/>
        </p:nvSpPr>
        <p:spPr>
          <a:xfrm>
            <a:off x="4937760" y="4370832"/>
            <a:ext cx="1508760" cy="731520"/>
          </a:xfrm>
          <a:prstGeom prst="rect">
            <a:avLst/>
          </a:prstGeom>
          <a:noFill/>
          <a:ln/>
        </p:spPr>
        <p:txBody>
          <a:bodyPr wrap="square" lIns="0" tIns="0" rIns="0" bIns="0" rtlCol="0" anchor="ctr"/>
          <a:lstStyle/>
          <a:p>
            <a:pPr indent="0" marL="0">
              <a:buNone/>
            </a:pPr>
            <a:r>
              <a:rPr lang="en-US" sz="1400" b="1" dirty="0">
                <a:solidFill>
                  <a:schemeClr val="tx2"/>
                </a:solidFill>
              </a:rPr>
              <a:t>Interactive frontend and reports</a:t>
            </a:r>
            <a:endParaRPr lang="en-US" sz="1400" dirty="0"/>
          </a:p>
        </p:txBody>
      </p:sp>
      <p:sp>
        <p:nvSpPr>
          <p:cNvPr id="67" name="Status Implemented"/>
          <p:cNvSpPr/>
          <p:nvPr/>
        </p:nvSpPr>
        <p:spPr>
          <a:xfrm>
            <a:off x="4480560" y="5212080"/>
            <a:ext cx="1051560" cy="237744"/>
          </a:xfrm>
          <a:prstGeom prst="roundRect">
            <a:avLst>
              <a:gd name="adj" fmla="val 50000"/>
            </a:avLst>
          </a:prstGeom>
          <a:solidFill>
            <a:schemeClr val="accent5"/>
          </a:solidFill>
          <a:ln/>
        </p:spPr>
      </p:sp>
      <p:sp>
        <p:nvSpPr>
          <p:cNvPr id="68" name="Text 65"/>
          <p:cNvSpPr txBox="1"/>
          <p:nvPr/>
        </p:nvSpPr>
        <p:spPr>
          <a:xfrm>
            <a:off x="4480560" y="521208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IMPLEMENTED</a:t>
            </a:r>
            <a:endParaRPr lang="en-US" sz="1000" dirty="0"/>
          </a:p>
        </p:txBody>
      </p:sp>
      <p:sp>
        <p:nvSpPr>
          <p:cNvPr id="69" name="Text 66"/>
          <p:cNvSpPr txBox="1"/>
          <p:nvPr/>
        </p:nvSpPr>
        <p:spPr>
          <a:xfrm>
            <a:off x="548640" y="5806440"/>
            <a:ext cx="11064240" cy="457200"/>
          </a:xfrm>
          <a:prstGeom prst="rect">
            <a:avLst/>
          </a:prstGeom>
          <a:noFill/>
          <a:ln/>
        </p:spPr>
        <p:txBody>
          <a:bodyPr wrap="square" lIns="0" tIns="0" rIns="0" bIns="0" rtlCol="0" anchor="t"/>
          <a:lstStyle/>
          <a:p>
            <a:pPr indent="0" marL="0">
              <a:buNone/>
            </a:pPr>
            <a:r>
              <a:rPr lang="en-US" sz="1200" i="1" dirty="0">
                <a:solidFill>
                  <a:schemeClr val="accent6"/>
                </a:solidFill>
              </a:rPr>
              <a:t>Directional flow: sources, then validation, then features and twin state, then model, then API and dashboard. Confirm each stage status against the repository.</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Data Sources and Preparation</a:t>
            </a:r>
            <a:endParaRPr lang="en-US" sz="3400" dirty="0"/>
          </a:p>
        </p:txBody>
      </p:sp>
      <p:sp>
        <p:nvSpPr>
          <p:cNvPr id="4" name="Card"/>
          <p:cNvSpPr/>
          <p:nvPr/>
        </p:nvSpPr>
        <p:spPr>
          <a:xfrm>
            <a:off x="548640" y="1371600"/>
            <a:ext cx="5760720" cy="4206240"/>
          </a:xfrm>
          <a:prstGeom prst="roundRect">
            <a:avLst>
              <a:gd name="adj" fmla="val 2174"/>
            </a:avLst>
          </a:prstGeom>
          <a:solidFill>
            <a:schemeClr val="bg2"/>
          </a:solidFill>
          <a:ln/>
        </p:spPr>
      </p:sp>
      <p:sp>
        <p:nvSpPr>
          <p:cNvPr id="5" name="Text 2"/>
          <p:cNvSpPr txBox="1"/>
          <p:nvPr/>
        </p:nvSpPr>
        <p:spPr>
          <a:xfrm>
            <a:off x="822960" y="1508760"/>
            <a:ext cx="5212080" cy="365760"/>
          </a:xfrm>
          <a:prstGeom prst="rect">
            <a:avLst/>
          </a:prstGeom>
          <a:noFill/>
          <a:ln/>
        </p:spPr>
        <p:txBody>
          <a:bodyPr wrap="square" lIns="0" tIns="0" rIns="0" bIns="0" rtlCol="0" anchor="t"/>
          <a:lstStyle/>
          <a:p>
            <a:pPr indent="0" marL="0">
              <a:buNone/>
            </a:pPr>
            <a:r>
              <a:rPr lang="en-US" sz="2000" b="1" dirty="0">
                <a:solidFill>
                  <a:schemeClr val="accent1"/>
                </a:solidFill>
              </a:rPr>
              <a:t>Preparation steps</a:t>
            </a:r>
            <a:endParaRPr lang="en-US" sz="2000" dirty="0"/>
          </a:p>
        </p:txBody>
      </p:sp>
      <p:sp>
        <p:nvSpPr>
          <p:cNvPr id="6" name="Text 3"/>
          <p:cNvSpPr txBox="1"/>
          <p:nvPr/>
        </p:nvSpPr>
        <p:spPr>
          <a:xfrm>
            <a:off x="822960" y="2011680"/>
            <a:ext cx="5212080" cy="3474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Source: synthetic or licensed anonymized (name it)</a:t>
            </a:r>
            <a:endParaRPr lang="en-US" sz="1400" dirty="0"/>
          </a:p>
          <a:p>
            <a:pPr marL="342900" indent="-342900">
              <a:spcAft>
                <a:spcPts val="600"/>
              </a:spcAft>
              <a:buSzPct val="100000"/>
              <a:buChar char="•"/>
            </a:pPr>
            <a:r>
              <a:rPr lang="en-US" sz="1400" dirty="0">
                <a:solidFill>
                  <a:schemeClr val="tx1"/>
                </a:solidFill>
              </a:rPr>
              <a:t>Fields and units: in a feature dictionary</a:t>
            </a:r>
            <a:endParaRPr lang="en-US" sz="1400" dirty="0"/>
          </a:p>
          <a:p>
            <a:pPr marL="342900" indent="-342900">
              <a:spcAft>
                <a:spcPts val="600"/>
              </a:spcAft>
              <a:buSzPct val="100000"/>
              <a:buChar char="•"/>
            </a:pPr>
            <a:r>
              <a:rPr lang="en-US" sz="1400" dirty="0">
                <a:solidFill>
                  <a:schemeClr val="tx1"/>
                </a:solidFill>
              </a:rPr>
              <a:t>Timestamps aligned to a common grid</a:t>
            </a:r>
            <a:endParaRPr lang="en-US" sz="1400" dirty="0"/>
          </a:p>
          <a:p>
            <a:pPr marL="342900" indent="-342900">
              <a:spcAft>
                <a:spcPts val="600"/>
              </a:spcAft>
              <a:buSzPct val="100000"/>
              <a:buChar char="•"/>
            </a:pPr>
            <a:r>
              <a:rPr lang="en-US" sz="1400" dirty="0">
                <a:solidFill>
                  <a:schemeClr val="tx1"/>
                </a:solidFill>
              </a:rPr>
              <a:t>Missing values: flagged, then imputed or masked</a:t>
            </a:r>
            <a:endParaRPr lang="en-US" sz="1400" dirty="0"/>
          </a:p>
          <a:p>
            <a:pPr marL="342900" indent="-342900">
              <a:spcAft>
                <a:spcPts val="600"/>
              </a:spcAft>
              <a:buSzPct val="100000"/>
              <a:buChar char="•"/>
            </a:pPr>
            <a:r>
              <a:rPr lang="en-US" sz="1400" dirty="0">
                <a:solidFill>
                  <a:schemeClr val="tx1"/>
                </a:solidFill>
              </a:rPr>
              <a:t>Duplicate and outlier checks</a:t>
            </a:r>
            <a:endParaRPr lang="en-US" sz="1400" dirty="0"/>
          </a:p>
          <a:p>
            <a:pPr marL="342900" indent="-342900">
              <a:spcAft>
                <a:spcPts val="600"/>
              </a:spcAft>
              <a:buSzPct val="100000"/>
              <a:buChar char="•"/>
            </a:pPr>
            <a:r>
              <a:rPr lang="en-US" sz="1400" dirty="0">
                <a:solidFill>
                  <a:schemeClr val="tx1"/>
                </a:solidFill>
              </a:rPr>
              <a:t>Features: rolling statistics, deltas vs baseline</a:t>
            </a:r>
            <a:endParaRPr lang="en-US" sz="1400" dirty="0"/>
          </a:p>
        </p:txBody>
      </p:sp>
      <p:sp>
        <p:nvSpPr>
          <p:cNvPr id="7" name="Text 4"/>
          <p:cNvSpPr txBox="1"/>
          <p:nvPr/>
        </p:nvSpPr>
        <p:spPr>
          <a:xfrm>
            <a:off x="6583680" y="1371600"/>
            <a:ext cx="5029200" cy="320040"/>
          </a:xfrm>
          <a:prstGeom prst="rect">
            <a:avLst/>
          </a:prstGeom>
          <a:noFill/>
          <a:ln/>
        </p:spPr>
        <p:txBody>
          <a:bodyPr wrap="square" lIns="0" tIns="0" rIns="0" bIns="0" rtlCol="0" anchor="t"/>
          <a:lstStyle/>
          <a:p>
            <a:pPr indent="0" marL="0">
              <a:buNone/>
            </a:pPr>
            <a:r>
              <a:rPr lang="en-US" sz="1600" b="1" dirty="0">
                <a:solidFill>
                  <a:schemeClr val="tx2"/>
                </a:solidFill>
              </a:rPr>
              <a:t>Illustrative synthetic example (not real data)</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0" y="1783080"/>
          <a:ext cx="9144000" cy="914400"/>
        </p:xfrm>
        <a:graphic>
          <a:graphicData uri="http://schemas.openxmlformats.org/drawingml/2006/table">
            <a:tbl>
              <a:tblPr/>
              <a:tblGrid>
                <a:gridCol w="1371600"/>
                <a:gridCol w="1097280"/>
                <a:gridCol w="1188720"/>
                <a:gridCol w="1371600"/>
              </a:tblGrid>
              <a:tr h="457200">
                <a:tc>
                  <a:txBody>
                    <a:bodyPr/>
                    <a:lstStyle/>
                    <a:p>
                      <a:pPr indent="0" marL="0">
                        <a:buNone/>
                      </a:pPr>
                      <a:r>
                        <a:rPr lang="en-US" sz="1400" b="1" dirty="0">
                          <a:solidFill>
                            <a:srgbClr val="FFFFFF"/>
                          </a:solidFill>
                        </a:rPr>
                        <a:t>Patient</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Time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HR bpm</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SBP mmHg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r>
              <a:tr h="457200">
                <a:tc>
                  <a:txBody>
                    <a:bodyPr/>
                    <a:lstStyle/>
                    <a:p>
                      <a:pPr indent="0" marL="0">
                        <a:buNone/>
                      </a:pPr>
                      <a:r>
                        <a:rPr lang="en-US" sz="1400" dirty="0">
                          <a:solidFill>
                            <a:srgbClr val="14213D"/>
                          </a:solidFill>
                        </a:rPr>
                        <a:t>CT-1001</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08:00</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68</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122</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CT-1001</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08:05</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71</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121</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CT-1001</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08:10</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missing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123</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9" name="Text 5"/>
          <p:cNvSpPr txBox="1"/>
          <p:nvPr/>
        </p:nvSpPr>
        <p:spPr>
          <a:xfrm>
            <a:off x="6583680" y="3703320"/>
            <a:ext cx="5029200" cy="457200"/>
          </a:xfrm>
          <a:prstGeom prst="rect">
            <a:avLst/>
          </a:prstGeom>
          <a:noFill/>
          <a:ln/>
        </p:spPr>
        <p:txBody>
          <a:bodyPr wrap="square" lIns="0" tIns="0" rIns="0" bIns="0" rtlCol="0" anchor="t"/>
          <a:lstStyle/>
          <a:p>
            <a:pPr indent="0" marL="0">
              <a:buNone/>
            </a:pPr>
            <a:r>
              <a:rPr lang="en-US" sz="1200" i="1" dirty="0">
                <a:solidFill>
                  <a:schemeClr val="accent6"/>
                </a:solidFill>
              </a:rPr>
              <a:t>Figure 7. Example rows only. The missing HR value would be flagged by validation.</a:t>
            </a:r>
            <a:endParaRPr lang="en-US" sz="1200" dirty="0"/>
          </a:p>
        </p:txBody>
      </p:sp>
      <p:sp>
        <p:nvSpPr>
          <p:cNvPr id="10" name="Card"/>
          <p:cNvSpPr/>
          <p:nvPr/>
        </p:nvSpPr>
        <p:spPr>
          <a:xfrm>
            <a:off x="6583680" y="4297680"/>
            <a:ext cx="5029200" cy="1280160"/>
          </a:xfrm>
          <a:prstGeom prst="roundRect">
            <a:avLst>
              <a:gd name="adj" fmla="val 7143"/>
            </a:avLst>
          </a:prstGeom>
          <a:solidFill>
            <a:schemeClr val="tx2"/>
          </a:solidFill>
          <a:ln/>
        </p:spPr>
      </p:sp>
      <p:sp>
        <p:nvSpPr>
          <p:cNvPr id="11" name="Text 7"/>
          <p:cNvSpPr txBox="1"/>
          <p:nvPr/>
        </p:nvSpPr>
        <p:spPr>
          <a:xfrm>
            <a:off x="6812280" y="4297680"/>
            <a:ext cx="4572000" cy="1280160"/>
          </a:xfrm>
          <a:prstGeom prst="rect">
            <a:avLst/>
          </a:prstGeom>
          <a:noFill/>
          <a:ln/>
        </p:spPr>
        <p:txBody>
          <a:bodyPr wrap="square" lIns="0" tIns="0" rIns="0" bIns="0" rtlCol="0" anchor="ctr"/>
          <a:lstStyle/>
          <a:p>
            <a:pPr indent="0" marL="0">
              <a:buNone/>
            </a:pPr>
            <a:r>
              <a:rPr lang="en-US" sz="1400" b="1" dirty="0">
                <a:solidFill>
                  <a:schemeClr val="bg1"/>
                </a:solidFill>
              </a:rPr>
              <a:t>20 synthetic patient twins</a:t>
            </a:r>
            <a:endParaRPr lang="en-US" sz="1400" dirty="0"/>
          </a:p>
          <a:p>
            <a:pPr indent="0" marL="0">
              <a:buNone/>
            </a:pPr>
            <a:r>
              <a:rPr lang="en-US" sz="1400" dirty="0">
                <a:solidFill>
                  <a:schemeClr val="bg1"/>
                </a:solidFill>
              </a:rPr>
              <a:t>Count shown in the app. Observation totals: pending data profile.</a:t>
            </a:r>
            <a:endParaRPr lang="en-US" sz="1400" dirty="0"/>
          </a:p>
        </p:txBody>
      </p:sp>
      <p:sp>
        <p:nvSpPr>
          <p:cNvPr id="12" name="Text 8"/>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400" b="1" dirty="0">
                <a:solidFill>
                  <a:schemeClr val="tx2"/>
                </a:solidFill>
              </a:rPr>
              <a:t>Privacy: no real patient records; no keys or passwords in slides.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Digital-Twin Design</a:t>
            </a:r>
            <a:endParaRPr lang="en-US" sz="3400" dirty="0"/>
          </a:p>
        </p:txBody>
      </p:sp>
      <p:sp>
        <p:nvSpPr>
          <p:cNvPr id="4" name="Shape 1"/>
          <p:cNvSpPr/>
          <p:nvPr/>
        </p:nvSpPr>
        <p:spPr>
          <a:xfrm>
            <a:off x="1280160" y="1965960"/>
            <a:ext cx="9692640" cy="0"/>
          </a:xfrm>
          <a:prstGeom prst="line">
            <a:avLst/>
          </a:prstGeom>
          <a:noFill/>
          <a:ln w="25400">
            <a:solidFill>
              <a:schemeClr val="accent1"/>
            </a:solidFill>
            <a:prstDash val="solid"/>
          </a:ln>
        </p:spPr>
      </p:sp>
      <p:sp>
        <p:nvSpPr>
          <p:cNvPr id="5" name="Snapshot node"/>
          <p:cNvSpPr/>
          <p:nvPr/>
        </p:nvSpPr>
        <p:spPr>
          <a:xfrm>
            <a:off x="2240280" y="1737360"/>
            <a:ext cx="457200" cy="457200"/>
          </a:xfrm>
          <a:prstGeom prst="ellipse">
            <a:avLst/>
          </a:prstGeom>
          <a:solidFill>
            <a:schemeClr val="accent1"/>
          </a:solidFill>
          <a:ln/>
        </p:spPr>
      </p:sp>
      <p:sp>
        <p:nvSpPr>
          <p:cNvPr id="6" name="Text 3"/>
          <p:cNvSpPr txBox="1"/>
          <p:nvPr/>
        </p:nvSpPr>
        <p:spPr>
          <a:xfrm>
            <a:off x="224028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4"/>
          <p:cNvSpPr txBox="1"/>
          <p:nvPr/>
        </p:nvSpPr>
        <p:spPr>
          <a:xfrm>
            <a:off x="1371600" y="2286000"/>
            <a:ext cx="2194560" cy="274320"/>
          </a:xfrm>
          <a:prstGeom prst="rect">
            <a:avLst/>
          </a:prstGeom>
          <a:noFill/>
          <a:ln/>
        </p:spPr>
        <p:txBody>
          <a:bodyPr wrap="square" lIns="0" tIns="0" rIns="0" bIns="0" rtlCol="0" anchor="t"/>
          <a:lstStyle/>
          <a:p>
            <a:pPr algn="ctr" indent="0" marL="0">
              <a:buNone/>
            </a:pPr>
            <a:r>
              <a:rPr lang="en-US" sz="1400" b="1" dirty="0">
                <a:solidFill>
                  <a:schemeClr val="tx2"/>
                </a:solidFill>
              </a:rPr>
              <a:t>Snapshot 1</a:t>
            </a:r>
            <a:endParaRPr lang="en-US" sz="1400" dirty="0"/>
          </a:p>
        </p:txBody>
      </p:sp>
      <p:sp>
        <p:nvSpPr>
          <p:cNvPr id="8" name="Text 5"/>
          <p:cNvSpPr txBox="1"/>
          <p:nvPr/>
        </p:nvSpPr>
        <p:spPr>
          <a:xfrm>
            <a:off x="1371600" y="2560320"/>
            <a:ext cx="2194560" cy="274320"/>
          </a:xfrm>
          <a:prstGeom prst="rect">
            <a:avLst/>
          </a:prstGeom>
          <a:noFill/>
          <a:ln/>
        </p:spPr>
        <p:txBody>
          <a:bodyPr wrap="square" lIns="0" tIns="0" rIns="0" bIns="0" rtlCol="0" anchor="t"/>
          <a:lstStyle/>
          <a:p>
            <a:pPr algn="ctr" indent="0" marL="0">
              <a:buNone/>
            </a:pPr>
            <a:r>
              <a:rPr lang="en-US" sz="1400" dirty="0">
                <a:solidFill>
                  <a:schemeClr val="tx1"/>
                </a:solidFill>
              </a:rPr>
              <a:t>Baseline set</a:t>
            </a:r>
            <a:endParaRPr lang="en-US" sz="1400" dirty="0"/>
          </a:p>
        </p:txBody>
      </p:sp>
      <p:sp>
        <p:nvSpPr>
          <p:cNvPr id="9" name="Snapshot node"/>
          <p:cNvSpPr/>
          <p:nvPr/>
        </p:nvSpPr>
        <p:spPr>
          <a:xfrm>
            <a:off x="4846320" y="1737360"/>
            <a:ext cx="457200" cy="457200"/>
          </a:xfrm>
          <a:prstGeom prst="ellipse">
            <a:avLst/>
          </a:prstGeom>
          <a:solidFill>
            <a:schemeClr val="accent1"/>
          </a:solidFill>
          <a:ln/>
        </p:spPr>
      </p:sp>
      <p:sp>
        <p:nvSpPr>
          <p:cNvPr id="10" name="Text 7"/>
          <p:cNvSpPr txBox="1"/>
          <p:nvPr/>
        </p:nvSpPr>
        <p:spPr>
          <a:xfrm>
            <a:off x="484632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8"/>
          <p:cNvSpPr txBox="1"/>
          <p:nvPr/>
        </p:nvSpPr>
        <p:spPr>
          <a:xfrm>
            <a:off x="3977640" y="2286000"/>
            <a:ext cx="2194560" cy="274320"/>
          </a:xfrm>
          <a:prstGeom prst="rect">
            <a:avLst/>
          </a:prstGeom>
          <a:noFill/>
          <a:ln/>
        </p:spPr>
        <p:txBody>
          <a:bodyPr wrap="square" lIns="0" tIns="0" rIns="0" bIns="0" rtlCol="0" anchor="t"/>
          <a:lstStyle/>
          <a:p>
            <a:pPr algn="ctr" indent="0" marL="0">
              <a:buNone/>
            </a:pPr>
            <a:r>
              <a:rPr lang="en-US" sz="1400" b="1" dirty="0">
                <a:solidFill>
                  <a:schemeClr val="tx2"/>
                </a:solidFill>
              </a:rPr>
              <a:t>Snapshot 2</a:t>
            </a:r>
            <a:endParaRPr lang="en-US" sz="1400" dirty="0"/>
          </a:p>
        </p:txBody>
      </p:sp>
      <p:sp>
        <p:nvSpPr>
          <p:cNvPr id="12" name="Text 9"/>
          <p:cNvSpPr txBox="1"/>
          <p:nvPr/>
        </p:nvSpPr>
        <p:spPr>
          <a:xfrm>
            <a:off x="3977640" y="2560320"/>
            <a:ext cx="2194560" cy="274320"/>
          </a:xfrm>
          <a:prstGeom prst="rect">
            <a:avLst/>
          </a:prstGeom>
          <a:noFill/>
          <a:ln/>
        </p:spPr>
        <p:txBody>
          <a:bodyPr wrap="square" lIns="0" tIns="0" rIns="0" bIns="0" rtlCol="0" anchor="t"/>
          <a:lstStyle/>
          <a:p>
            <a:pPr algn="ctr" indent="0" marL="0">
              <a:buNone/>
            </a:pPr>
            <a:r>
              <a:rPr lang="en-US" sz="1400" dirty="0">
                <a:solidFill>
                  <a:schemeClr val="tx1"/>
                </a:solidFill>
              </a:rPr>
              <a:t>New readings</a:t>
            </a:r>
            <a:endParaRPr lang="en-US" sz="1400" dirty="0"/>
          </a:p>
        </p:txBody>
      </p:sp>
      <p:sp>
        <p:nvSpPr>
          <p:cNvPr id="13" name="Snapshot node"/>
          <p:cNvSpPr/>
          <p:nvPr/>
        </p:nvSpPr>
        <p:spPr>
          <a:xfrm>
            <a:off x="7452360" y="1737360"/>
            <a:ext cx="457200" cy="457200"/>
          </a:xfrm>
          <a:prstGeom prst="ellipse">
            <a:avLst/>
          </a:prstGeom>
          <a:solidFill>
            <a:schemeClr val="accent1"/>
          </a:solidFill>
          <a:ln/>
        </p:spPr>
      </p:sp>
      <p:sp>
        <p:nvSpPr>
          <p:cNvPr id="14" name="Text 11"/>
          <p:cNvSpPr txBox="1"/>
          <p:nvPr/>
        </p:nvSpPr>
        <p:spPr>
          <a:xfrm>
            <a:off x="745236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2"/>
          <p:cNvSpPr txBox="1"/>
          <p:nvPr/>
        </p:nvSpPr>
        <p:spPr>
          <a:xfrm>
            <a:off x="6583680" y="2286000"/>
            <a:ext cx="2194560" cy="274320"/>
          </a:xfrm>
          <a:prstGeom prst="rect">
            <a:avLst/>
          </a:prstGeom>
          <a:noFill/>
          <a:ln/>
        </p:spPr>
        <p:txBody>
          <a:bodyPr wrap="square" lIns="0" tIns="0" rIns="0" bIns="0" rtlCol="0" anchor="t"/>
          <a:lstStyle/>
          <a:p>
            <a:pPr algn="ctr" indent="0" marL="0">
              <a:buNone/>
            </a:pPr>
            <a:r>
              <a:rPr lang="en-US" sz="1400" b="1" dirty="0">
                <a:solidFill>
                  <a:schemeClr val="tx2"/>
                </a:solidFill>
              </a:rPr>
              <a:t>Snapshot 3</a:t>
            </a:r>
            <a:endParaRPr lang="en-US" sz="1400" dirty="0"/>
          </a:p>
        </p:txBody>
      </p:sp>
      <p:sp>
        <p:nvSpPr>
          <p:cNvPr id="16" name="Text 13"/>
          <p:cNvSpPr txBox="1"/>
          <p:nvPr/>
        </p:nvSpPr>
        <p:spPr>
          <a:xfrm>
            <a:off x="6583680" y="2560320"/>
            <a:ext cx="2194560" cy="274320"/>
          </a:xfrm>
          <a:prstGeom prst="rect">
            <a:avLst/>
          </a:prstGeom>
          <a:noFill/>
          <a:ln/>
        </p:spPr>
        <p:txBody>
          <a:bodyPr wrap="square" lIns="0" tIns="0" rIns="0" bIns="0" rtlCol="0" anchor="t"/>
          <a:lstStyle/>
          <a:p>
            <a:pPr algn="ctr" indent="0" marL="0">
              <a:buNone/>
            </a:pPr>
            <a:r>
              <a:rPr lang="en-US" sz="1400" dirty="0">
                <a:solidFill>
                  <a:schemeClr val="tx1"/>
                </a:solidFill>
              </a:rPr>
              <a:t>Features updated</a:t>
            </a:r>
            <a:endParaRPr lang="en-US" sz="1400" dirty="0"/>
          </a:p>
        </p:txBody>
      </p:sp>
      <p:sp>
        <p:nvSpPr>
          <p:cNvPr id="17" name="Snapshot node"/>
          <p:cNvSpPr/>
          <p:nvPr/>
        </p:nvSpPr>
        <p:spPr>
          <a:xfrm>
            <a:off x="10058400" y="1737360"/>
            <a:ext cx="457200" cy="457200"/>
          </a:xfrm>
          <a:prstGeom prst="ellipse">
            <a:avLst/>
          </a:prstGeom>
          <a:solidFill>
            <a:schemeClr val="accent1"/>
          </a:solidFill>
          <a:ln/>
        </p:spPr>
      </p:sp>
      <p:sp>
        <p:nvSpPr>
          <p:cNvPr id="18" name="Text 15"/>
          <p:cNvSpPr txBox="1"/>
          <p:nvPr/>
        </p:nvSpPr>
        <p:spPr>
          <a:xfrm>
            <a:off x="10058400" y="173736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6"/>
          <p:cNvSpPr txBox="1"/>
          <p:nvPr/>
        </p:nvSpPr>
        <p:spPr>
          <a:xfrm>
            <a:off x="9189720" y="2286000"/>
            <a:ext cx="2194560" cy="274320"/>
          </a:xfrm>
          <a:prstGeom prst="rect">
            <a:avLst/>
          </a:prstGeom>
          <a:noFill/>
          <a:ln/>
        </p:spPr>
        <p:txBody>
          <a:bodyPr wrap="square" lIns="0" tIns="0" rIns="0" bIns="0" rtlCol="0" anchor="t"/>
          <a:lstStyle/>
          <a:p>
            <a:pPr algn="ctr" indent="0" marL="0">
              <a:buNone/>
            </a:pPr>
            <a:r>
              <a:rPr lang="en-US" sz="1400" b="1" dirty="0">
                <a:solidFill>
                  <a:schemeClr val="tx2"/>
                </a:solidFill>
              </a:rPr>
              <a:t>Snapshot 4</a:t>
            </a:r>
            <a:endParaRPr lang="en-US" sz="1400" dirty="0"/>
          </a:p>
        </p:txBody>
      </p:sp>
      <p:sp>
        <p:nvSpPr>
          <p:cNvPr id="20" name="Text 17"/>
          <p:cNvSpPr txBox="1"/>
          <p:nvPr/>
        </p:nvSpPr>
        <p:spPr>
          <a:xfrm>
            <a:off x="9189720" y="2560320"/>
            <a:ext cx="2194560" cy="274320"/>
          </a:xfrm>
          <a:prstGeom prst="rect">
            <a:avLst/>
          </a:prstGeom>
          <a:noFill/>
          <a:ln/>
        </p:spPr>
        <p:txBody>
          <a:bodyPr wrap="square" lIns="0" tIns="0" rIns="0" bIns="0" rtlCol="0" anchor="t"/>
          <a:lstStyle/>
          <a:p>
            <a:pPr algn="ctr" indent="0" marL="0">
              <a:buNone/>
            </a:pPr>
            <a:r>
              <a:rPr lang="en-US" sz="1400" dirty="0">
                <a:solidFill>
                  <a:schemeClr val="tx1"/>
                </a:solidFill>
              </a:rPr>
              <a:t>Model re-run</a:t>
            </a:r>
            <a:endParaRPr lang="en-US" sz="1400" dirty="0"/>
          </a:p>
        </p:txBody>
      </p:sp>
      <p:sp>
        <p:nvSpPr>
          <p:cNvPr id="21" name="Card"/>
          <p:cNvSpPr/>
          <p:nvPr/>
        </p:nvSpPr>
        <p:spPr>
          <a:xfrm>
            <a:off x="548640" y="3200400"/>
            <a:ext cx="3566160" cy="868680"/>
          </a:xfrm>
          <a:prstGeom prst="roundRect">
            <a:avLst>
              <a:gd name="adj" fmla="val 10526"/>
            </a:avLst>
          </a:prstGeom>
          <a:solidFill>
            <a:schemeClr val="bg2"/>
          </a:solidFill>
          <a:ln/>
        </p:spPr>
      </p:sp>
      <p:sp>
        <p:nvSpPr>
          <p:cNvPr id="22" name="Text 19"/>
          <p:cNvSpPr txBox="1"/>
          <p:nvPr/>
        </p:nvSpPr>
        <p:spPr>
          <a:xfrm>
            <a:off x="777240" y="3200400"/>
            <a:ext cx="3108960" cy="868680"/>
          </a:xfrm>
          <a:prstGeom prst="rect">
            <a:avLst/>
          </a:prstGeom>
          <a:noFill/>
          <a:ln/>
        </p:spPr>
        <p:txBody>
          <a:bodyPr wrap="square" lIns="0" tIns="0" rIns="0" bIns="0" rtlCol="0" anchor="ctr"/>
          <a:lstStyle/>
          <a:p>
            <a:pPr indent="0" marL="0">
              <a:buNone/>
            </a:pPr>
            <a:r>
              <a:rPr lang="en-US" sz="1600" b="1" dirty="0">
                <a:solidFill>
                  <a:schemeClr val="tx2"/>
                </a:solidFill>
              </a:rPr>
              <a:t>Historical context</a:t>
            </a:r>
            <a:endParaRPr lang="en-US" sz="1600" dirty="0"/>
          </a:p>
        </p:txBody>
      </p:sp>
      <p:sp>
        <p:nvSpPr>
          <p:cNvPr id="23" name="Card"/>
          <p:cNvSpPr/>
          <p:nvPr/>
        </p:nvSpPr>
        <p:spPr>
          <a:xfrm>
            <a:off x="4297680" y="3200400"/>
            <a:ext cx="3566160" cy="868680"/>
          </a:xfrm>
          <a:prstGeom prst="roundRect">
            <a:avLst>
              <a:gd name="adj" fmla="val 10526"/>
            </a:avLst>
          </a:prstGeom>
          <a:solidFill>
            <a:schemeClr val="bg2"/>
          </a:solidFill>
          <a:ln/>
        </p:spPr>
      </p:sp>
      <p:sp>
        <p:nvSpPr>
          <p:cNvPr id="24" name="Text 21"/>
          <p:cNvSpPr txBox="1"/>
          <p:nvPr/>
        </p:nvSpPr>
        <p:spPr>
          <a:xfrm>
            <a:off x="4526280" y="3200400"/>
            <a:ext cx="3108960" cy="868680"/>
          </a:xfrm>
          <a:prstGeom prst="rect">
            <a:avLst/>
          </a:prstGeom>
          <a:noFill/>
          <a:ln/>
        </p:spPr>
        <p:txBody>
          <a:bodyPr wrap="square" lIns="0" tIns="0" rIns="0" bIns="0" rtlCol="0" anchor="ctr"/>
          <a:lstStyle/>
          <a:p>
            <a:pPr indent="0" marL="0">
              <a:buNone/>
            </a:pPr>
            <a:r>
              <a:rPr lang="en-US" sz="1600" b="1" dirty="0">
                <a:solidFill>
                  <a:schemeClr val="tx2"/>
                </a:solidFill>
              </a:rPr>
              <a:t>Recent observations</a:t>
            </a:r>
            <a:endParaRPr lang="en-US" sz="1600" dirty="0"/>
          </a:p>
        </p:txBody>
      </p:sp>
      <p:sp>
        <p:nvSpPr>
          <p:cNvPr id="25" name="Card"/>
          <p:cNvSpPr/>
          <p:nvPr/>
        </p:nvSpPr>
        <p:spPr>
          <a:xfrm>
            <a:off x="8046720" y="3200400"/>
            <a:ext cx="3566160" cy="868680"/>
          </a:xfrm>
          <a:prstGeom prst="roundRect">
            <a:avLst>
              <a:gd name="adj" fmla="val 10526"/>
            </a:avLst>
          </a:prstGeom>
          <a:solidFill>
            <a:schemeClr val="bg2"/>
          </a:solidFill>
          <a:ln/>
        </p:spPr>
      </p:sp>
      <p:sp>
        <p:nvSpPr>
          <p:cNvPr id="26" name="Text 23"/>
          <p:cNvSpPr txBox="1"/>
          <p:nvPr/>
        </p:nvSpPr>
        <p:spPr>
          <a:xfrm>
            <a:off x="8275320" y="3200400"/>
            <a:ext cx="3108960" cy="868680"/>
          </a:xfrm>
          <a:prstGeom prst="rect">
            <a:avLst/>
          </a:prstGeom>
          <a:noFill/>
          <a:ln/>
        </p:spPr>
        <p:txBody>
          <a:bodyPr wrap="square" lIns="0" tIns="0" rIns="0" bIns="0" rtlCol="0" anchor="ctr"/>
          <a:lstStyle/>
          <a:p>
            <a:pPr indent="0" marL="0">
              <a:buNone/>
            </a:pPr>
            <a:r>
              <a:rPr lang="en-US" sz="1600" b="1" dirty="0">
                <a:solidFill>
                  <a:schemeClr val="tx2"/>
                </a:solidFill>
              </a:rPr>
              <a:t>Baseline and rolling features</a:t>
            </a:r>
            <a:endParaRPr lang="en-US" sz="1600" dirty="0"/>
          </a:p>
        </p:txBody>
      </p:sp>
      <p:sp>
        <p:nvSpPr>
          <p:cNvPr id="27" name="Card"/>
          <p:cNvSpPr/>
          <p:nvPr/>
        </p:nvSpPr>
        <p:spPr>
          <a:xfrm>
            <a:off x="548640" y="4251960"/>
            <a:ext cx="3566160" cy="868680"/>
          </a:xfrm>
          <a:prstGeom prst="roundRect">
            <a:avLst>
              <a:gd name="adj" fmla="val 10526"/>
            </a:avLst>
          </a:prstGeom>
          <a:solidFill>
            <a:schemeClr val="bg2"/>
          </a:solidFill>
          <a:ln/>
        </p:spPr>
      </p:sp>
      <p:sp>
        <p:nvSpPr>
          <p:cNvPr id="28" name="Text 25"/>
          <p:cNvSpPr txBox="1"/>
          <p:nvPr/>
        </p:nvSpPr>
        <p:spPr>
          <a:xfrm>
            <a:off x="777240" y="4251960"/>
            <a:ext cx="3108960" cy="868680"/>
          </a:xfrm>
          <a:prstGeom prst="rect">
            <a:avLst/>
          </a:prstGeom>
          <a:noFill/>
          <a:ln/>
        </p:spPr>
        <p:txBody>
          <a:bodyPr wrap="square" lIns="0" tIns="0" rIns="0" bIns="0" rtlCol="0" anchor="ctr"/>
          <a:lstStyle/>
          <a:p>
            <a:pPr indent="0" marL="0">
              <a:buNone/>
            </a:pPr>
            <a:r>
              <a:rPr lang="en-US" sz="1600" b="1" dirty="0">
                <a:solidFill>
                  <a:schemeClr val="tx2"/>
                </a:solidFill>
              </a:rPr>
              <a:t>Snapshot timestamp</a:t>
            </a:r>
            <a:endParaRPr lang="en-US" sz="1600" dirty="0"/>
          </a:p>
        </p:txBody>
      </p:sp>
      <p:sp>
        <p:nvSpPr>
          <p:cNvPr id="29" name="Card"/>
          <p:cNvSpPr/>
          <p:nvPr/>
        </p:nvSpPr>
        <p:spPr>
          <a:xfrm>
            <a:off x="4297680" y="4251960"/>
            <a:ext cx="3566160" cy="868680"/>
          </a:xfrm>
          <a:prstGeom prst="roundRect">
            <a:avLst>
              <a:gd name="adj" fmla="val 10526"/>
            </a:avLst>
          </a:prstGeom>
          <a:solidFill>
            <a:schemeClr val="bg2"/>
          </a:solidFill>
          <a:ln/>
        </p:spPr>
      </p:sp>
      <p:sp>
        <p:nvSpPr>
          <p:cNvPr id="30" name="Text 27"/>
          <p:cNvSpPr txBox="1"/>
          <p:nvPr/>
        </p:nvSpPr>
        <p:spPr>
          <a:xfrm>
            <a:off x="4526280" y="4251960"/>
            <a:ext cx="3108960" cy="868680"/>
          </a:xfrm>
          <a:prstGeom prst="rect">
            <a:avLst/>
          </a:prstGeom>
          <a:noFill/>
          <a:ln/>
        </p:spPr>
        <p:txBody>
          <a:bodyPr wrap="square" lIns="0" tIns="0" rIns="0" bIns="0" rtlCol="0" anchor="ctr"/>
          <a:lstStyle/>
          <a:p>
            <a:pPr indent="0" marL="0">
              <a:buNone/>
            </a:pPr>
            <a:r>
              <a:rPr lang="en-US" sz="1600" b="1" dirty="0">
                <a:solidFill>
                  <a:schemeClr val="tx2"/>
                </a:solidFill>
              </a:rPr>
              <a:t>Freshness and missingness</a:t>
            </a:r>
            <a:endParaRPr lang="en-US" sz="1600" dirty="0"/>
          </a:p>
        </p:txBody>
      </p:sp>
      <p:sp>
        <p:nvSpPr>
          <p:cNvPr id="31" name="Card"/>
          <p:cNvSpPr/>
          <p:nvPr/>
        </p:nvSpPr>
        <p:spPr>
          <a:xfrm>
            <a:off x="8046720" y="4251960"/>
            <a:ext cx="3566160" cy="868680"/>
          </a:xfrm>
          <a:prstGeom prst="roundRect">
            <a:avLst>
              <a:gd name="adj" fmla="val 10526"/>
            </a:avLst>
          </a:prstGeom>
          <a:solidFill>
            <a:schemeClr val="bg2"/>
          </a:solidFill>
          <a:ln/>
        </p:spPr>
      </p:sp>
      <p:sp>
        <p:nvSpPr>
          <p:cNvPr id="32" name="Text 29"/>
          <p:cNvSpPr txBox="1"/>
          <p:nvPr/>
        </p:nvSpPr>
        <p:spPr>
          <a:xfrm>
            <a:off x="8275320" y="4251960"/>
            <a:ext cx="3108960" cy="868680"/>
          </a:xfrm>
          <a:prstGeom prst="rect">
            <a:avLst/>
          </a:prstGeom>
          <a:noFill/>
          <a:ln/>
        </p:spPr>
        <p:txBody>
          <a:bodyPr wrap="square" lIns="0" tIns="0" rIns="0" bIns="0" rtlCol="0" anchor="ctr"/>
          <a:lstStyle/>
          <a:p>
            <a:pPr indent="0" marL="0">
              <a:buNone/>
            </a:pPr>
            <a:r>
              <a:rPr lang="en-US" sz="1600" b="1" dirty="0">
                <a:solidFill>
                  <a:schemeClr val="tx2"/>
                </a:solidFill>
              </a:rPr>
              <a:t>Model version + prediction</a:t>
            </a:r>
            <a:endParaRPr lang="en-US" sz="1600" dirty="0"/>
          </a:p>
        </p:txBody>
      </p:sp>
      <p:sp>
        <p:nvSpPr>
          <p:cNvPr id="33" name="Text 30"/>
          <p:cNvSpPr txBox="1"/>
          <p:nvPr/>
        </p:nvSpPr>
        <p:spPr>
          <a:xfrm>
            <a:off x="548640" y="5349240"/>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Figure 8. Illustrative snapshot structure and timeline, not actual snapshot data.</a:t>
            </a:r>
            <a:endParaRPr lang="en-US" sz="1200" dirty="0"/>
          </a:p>
        </p:txBody>
      </p:sp>
      <p:sp>
        <p:nvSpPr>
          <p:cNvPr id="34" name="Card"/>
          <p:cNvSpPr/>
          <p:nvPr/>
        </p:nvSpPr>
        <p:spPr>
          <a:xfrm>
            <a:off x="548640" y="5669280"/>
            <a:ext cx="11064240" cy="548640"/>
          </a:xfrm>
          <a:prstGeom prst="roundRect">
            <a:avLst>
              <a:gd name="adj" fmla="val 16667"/>
            </a:avLst>
          </a:prstGeom>
          <a:solidFill>
            <a:schemeClr val="tx2"/>
          </a:solidFill>
          <a:ln/>
        </p:spPr>
      </p:sp>
      <p:sp>
        <p:nvSpPr>
          <p:cNvPr id="35" name="Text 32"/>
          <p:cNvSpPr txBox="1"/>
          <p:nvPr/>
        </p:nvSpPr>
        <p:spPr>
          <a:xfrm>
            <a:off x="822960" y="5669280"/>
            <a:ext cx="10515600" cy="548640"/>
          </a:xfrm>
          <a:prstGeom prst="rect">
            <a:avLst/>
          </a:prstGeom>
          <a:noFill/>
          <a:ln/>
        </p:spPr>
        <p:txBody>
          <a:bodyPr wrap="square" lIns="0" tIns="0" rIns="0" bIns="0" rtlCol="0" anchor="ctr"/>
          <a:lstStyle/>
          <a:p>
            <a:pPr indent="0" marL="0">
              <a:buNone/>
            </a:pPr>
            <a:r>
              <a:rPr lang="en-US" sz="1400" b="1" dirty="0">
                <a:solidFill>
                  <a:schemeClr val="bg1"/>
                </a:solidFill>
              </a:rPr>
              <a:t>A research representation, not a validated physiological replica.</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AI/ML Pipeline</a:t>
            </a:r>
            <a:endParaRPr lang="en-US" sz="3400" dirty="0"/>
          </a:p>
        </p:txBody>
      </p:sp>
      <p:sp>
        <p:nvSpPr>
          <p:cNvPr id="4" name="Status Planned"/>
          <p:cNvSpPr/>
          <p:nvPr/>
        </p:nvSpPr>
        <p:spPr>
          <a:xfrm>
            <a:off x="10561320" y="548640"/>
            <a:ext cx="1051560" cy="237744"/>
          </a:xfrm>
          <a:prstGeom prst="roundRect">
            <a:avLst>
              <a:gd name="adj" fmla="val 50000"/>
            </a:avLst>
          </a:prstGeom>
          <a:solidFill>
            <a:schemeClr val="accent2"/>
          </a:solidFill>
          <a:ln/>
        </p:spPr>
      </p:sp>
      <p:sp>
        <p:nvSpPr>
          <p:cNvPr id="5" name="Text 2"/>
          <p:cNvSpPr txBox="1"/>
          <p:nvPr/>
        </p:nvSpPr>
        <p:spPr>
          <a:xfrm>
            <a:off x="10561320" y="548640"/>
            <a:ext cx="1051560" cy="237744"/>
          </a:xfrm>
          <a:prstGeom prst="rect">
            <a:avLst/>
          </a:prstGeom>
          <a:noFill/>
          <a:ln/>
        </p:spPr>
        <p:txBody>
          <a:bodyPr wrap="square" lIns="0" tIns="0" rIns="0" bIns="0" rtlCol="0" anchor="ctr"/>
          <a:lstStyle/>
          <a:p>
            <a:pPr algn="ctr" indent="0" marL="0">
              <a:buNone/>
            </a:pPr>
            <a:r>
              <a:rPr lang="en-US" sz="1000" b="1" dirty="0">
                <a:solidFill>
                  <a:schemeClr val="bg1"/>
                </a:solidFill>
              </a:rPr>
              <a:t>PLANNED</a:t>
            </a:r>
            <a:endParaRPr lang="en-US" sz="1000" dirty="0"/>
          </a:p>
        </p:txBody>
      </p:sp>
      <p:sp>
        <p:nvSpPr>
          <p:cNvPr id="6" name="Card"/>
          <p:cNvSpPr/>
          <p:nvPr/>
        </p:nvSpPr>
        <p:spPr>
          <a:xfrm>
            <a:off x="548640" y="1463040"/>
            <a:ext cx="1691640" cy="1737360"/>
          </a:xfrm>
          <a:prstGeom prst="roundRect">
            <a:avLst>
              <a:gd name="adj" fmla="val 5405"/>
            </a:avLst>
          </a:prstGeom>
          <a:solidFill>
            <a:schemeClr val="bg2"/>
          </a:solidFill>
          <a:ln/>
        </p:spPr>
      </p:sp>
      <p:sp>
        <p:nvSpPr>
          <p:cNvPr id="7" name="Text 4"/>
          <p:cNvSpPr txBox="1"/>
          <p:nvPr/>
        </p:nvSpPr>
        <p:spPr>
          <a:xfrm>
            <a:off x="731520" y="1600200"/>
            <a:ext cx="1280160" cy="365760"/>
          </a:xfrm>
          <a:prstGeom prst="rect">
            <a:avLst/>
          </a:prstGeom>
          <a:noFill/>
          <a:ln/>
        </p:spPr>
        <p:txBody>
          <a:bodyPr wrap="square" lIns="0" tIns="0" rIns="0" bIns="0" rtlCol="0" anchor="t"/>
          <a:lstStyle/>
          <a:p>
            <a:pPr indent="0" marL="0">
              <a:buNone/>
            </a:pPr>
            <a:r>
              <a:rPr lang="en-US" sz="2000" b="1" dirty="0">
                <a:solidFill>
                  <a:schemeClr val="accent2"/>
                </a:solidFill>
              </a:rPr>
              <a:t>1</a:t>
            </a:r>
            <a:endParaRPr lang="en-US" sz="2000" dirty="0"/>
          </a:p>
        </p:txBody>
      </p:sp>
      <p:sp>
        <p:nvSpPr>
          <p:cNvPr id="8" name="Text 5"/>
          <p:cNvSpPr txBox="1"/>
          <p:nvPr/>
        </p:nvSpPr>
        <p:spPr>
          <a:xfrm>
            <a:off x="731520" y="2011680"/>
            <a:ext cx="1371600" cy="365760"/>
          </a:xfrm>
          <a:prstGeom prst="rect">
            <a:avLst/>
          </a:prstGeom>
          <a:noFill/>
          <a:ln/>
        </p:spPr>
        <p:txBody>
          <a:bodyPr wrap="square" lIns="0" tIns="0" rIns="0" bIns="0" rtlCol="0" anchor="t"/>
          <a:lstStyle/>
          <a:p>
            <a:pPr indent="0" marL="0">
              <a:buNone/>
            </a:pPr>
            <a:r>
              <a:rPr lang="en-US" sz="1400" b="1" dirty="0">
                <a:solidFill>
                  <a:schemeClr val="tx2"/>
                </a:solidFill>
              </a:rPr>
              <a:t>Define target</a:t>
            </a:r>
            <a:endParaRPr lang="en-US" sz="1400" dirty="0"/>
          </a:p>
        </p:txBody>
      </p:sp>
      <p:sp>
        <p:nvSpPr>
          <p:cNvPr id="9" name="Text 6"/>
          <p:cNvSpPr txBox="1"/>
          <p:nvPr/>
        </p:nvSpPr>
        <p:spPr>
          <a:xfrm>
            <a:off x="731520" y="2423160"/>
            <a:ext cx="1417320" cy="640080"/>
          </a:xfrm>
          <a:prstGeom prst="rect">
            <a:avLst/>
          </a:prstGeom>
          <a:noFill/>
          <a:ln/>
        </p:spPr>
        <p:txBody>
          <a:bodyPr wrap="square" lIns="0" tIns="0" rIns="0" bIns="0" rtlCol="0" anchor="t"/>
          <a:lstStyle/>
          <a:p>
            <a:pPr indent="0" marL="0">
              <a:buNone/>
            </a:pPr>
            <a:r>
              <a:rPr lang="en-US" sz="1400" dirty="0">
                <a:solidFill>
                  <a:schemeClr val="tx1"/>
                </a:solidFill>
              </a:rPr>
              <a:t>Elevated risk, 2 h</a:t>
            </a:r>
            <a:endParaRPr lang="en-US" sz="1400" dirty="0"/>
          </a:p>
        </p:txBody>
      </p:sp>
      <p:sp>
        <p:nvSpPr>
          <p:cNvPr id="10" name="Card"/>
          <p:cNvSpPr/>
          <p:nvPr/>
        </p:nvSpPr>
        <p:spPr>
          <a:xfrm>
            <a:off x="2423160" y="1463040"/>
            <a:ext cx="1691640" cy="1737360"/>
          </a:xfrm>
          <a:prstGeom prst="roundRect">
            <a:avLst>
              <a:gd name="adj" fmla="val 5405"/>
            </a:avLst>
          </a:prstGeom>
          <a:solidFill>
            <a:schemeClr val="bg2"/>
          </a:solidFill>
          <a:ln/>
        </p:spPr>
      </p:sp>
      <p:sp>
        <p:nvSpPr>
          <p:cNvPr id="11" name="Text 8"/>
          <p:cNvSpPr txBox="1"/>
          <p:nvPr/>
        </p:nvSpPr>
        <p:spPr>
          <a:xfrm>
            <a:off x="2606040" y="1600200"/>
            <a:ext cx="1280160" cy="365760"/>
          </a:xfrm>
          <a:prstGeom prst="rect">
            <a:avLst/>
          </a:prstGeom>
          <a:noFill/>
          <a:ln/>
        </p:spPr>
        <p:txBody>
          <a:bodyPr wrap="square" lIns="0" tIns="0" rIns="0" bIns="0" rtlCol="0" anchor="t"/>
          <a:lstStyle/>
          <a:p>
            <a:pPr indent="0" marL="0">
              <a:buNone/>
            </a:pPr>
            <a:r>
              <a:rPr lang="en-US" sz="2000" b="1" dirty="0">
                <a:solidFill>
                  <a:schemeClr val="accent2"/>
                </a:solidFill>
              </a:rPr>
              <a:t>2</a:t>
            </a:r>
            <a:endParaRPr lang="en-US" sz="2000" dirty="0"/>
          </a:p>
        </p:txBody>
      </p:sp>
      <p:sp>
        <p:nvSpPr>
          <p:cNvPr id="12" name="Text 9"/>
          <p:cNvSpPr txBox="1"/>
          <p:nvPr/>
        </p:nvSpPr>
        <p:spPr>
          <a:xfrm>
            <a:off x="2606040" y="2011680"/>
            <a:ext cx="1371600" cy="365760"/>
          </a:xfrm>
          <a:prstGeom prst="rect">
            <a:avLst/>
          </a:prstGeom>
          <a:noFill/>
          <a:ln/>
        </p:spPr>
        <p:txBody>
          <a:bodyPr wrap="square" lIns="0" tIns="0" rIns="0" bIns="0" rtlCol="0" anchor="t"/>
          <a:lstStyle/>
          <a:p>
            <a:pPr indent="0" marL="0">
              <a:buNone/>
            </a:pPr>
            <a:r>
              <a:rPr lang="en-US" sz="1400" b="1" dirty="0">
                <a:solidFill>
                  <a:schemeClr val="tx2"/>
                </a:solidFill>
              </a:rPr>
              <a:t>Preprocess</a:t>
            </a:r>
            <a:endParaRPr lang="en-US" sz="1400" dirty="0"/>
          </a:p>
        </p:txBody>
      </p:sp>
      <p:sp>
        <p:nvSpPr>
          <p:cNvPr id="13" name="Text 10"/>
          <p:cNvSpPr txBox="1"/>
          <p:nvPr/>
        </p:nvSpPr>
        <p:spPr>
          <a:xfrm>
            <a:off x="2606040" y="2423160"/>
            <a:ext cx="1417320" cy="640080"/>
          </a:xfrm>
          <a:prstGeom prst="rect">
            <a:avLst/>
          </a:prstGeom>
          <a:noFill/>
          <a:ln/>
        </p:spPr>
        <p:txBody>
          <a:bodyPr wrap="square" lIns="0" tIns="0" rIns="0" bIns="0" rtlCol="0" anchor="t"/>
          <a:lstStyle/>
          <a:p>
            <a:pPr indent="0" marL="0">
              <a:buNone/>
            </a:pPr>
            <a:r>
              <a:rPr lang="en-US" sz="1400" dirty="0">
                <a:solidFill>
                  <a:schemeClr val="tx1"/>
                </a:solidFill>
              </a:rPr>
              <a:t>Impute, scale, encode</a:t>
            </a:r>
            <a:endParaRPr lang="en-US" sz="1400" dirty="0"/>
          </a:p>
        </p:txBody>
      </p:sp>
      <p:sp>
        <p:nvSpPr>
          <p:cNvPr id="14" name="Card"/>
          <p:cNvSpPr/>
          <p:nvPr/>
        </p:nvSpPr>
        <p:spPr>
          <a:xfrm>
            <a:off x="4297680" y="1463040"/>
            <a:ext cx="1691640" cy="1737360"/>
          </a:xfrm>
          <a:prstGeom prst="roundRect">
            <a:avLst>
              <a:gd name="adj" fmla="val 5405"/>
            </a:avLst>
          </a:prstGeom>
          <a:solidFill>
            <a:schemeClr val="bg2"/>
          </a:solidFill>
          <a:ln/>
        </p:spPr>
      </p:sp>
      <p:sp>
        <p:nvSpPr>
          <p:cNvPr id="15" name="Text 12"/>
          <p:cNvSpPr txBox="1"/>
          <p:nvPr/>
        </p:nvSpPr>
        <p:spPr>
          <a:xfrm>
            <a:off x="4480560" y="1600200"/>
            <a:ext cx="1280160" cy="365760"/>
          </a:xfrm>
          <a:prstGeom prst="rect">
            <a:avLst/>
          </a:prstGeom>
          <a:noFill/>
          <a:ln/>
        </p:spPr>
        <p:txBody>
          <a:bodyPr wrap="square" lIns="0" tIns="0" rIns="0" bIns="0" rtlCol="0" anchor="t"/>
          <a:lstStyle/>
          <a:p>
            <a:pPr indent="0" marL="0">
              <a:buNone/>
            </a:pPr>
            <a:r>
              <a:rPr lang="en-US" sz="2000" b="1" dirty="0">
                <a:solidFill>
                  <a:schemeClr val="accent2"/>
                </a:solidFill>
              </a:rPr>
              <a:t>3</a:t>
            </a:r>
            <a:endParaRPr lang="en-US" sz="2000" dirty="0"/>
          </a:p>
        </p:txBody>
      </p:sp>
      <p:sp>
        <p:nvSpPr>
          <p:cNvPr id="16" name="Text 13"/>
          <p:cNvSpPr txBox="1"/>
          <p:nvPr/>
        </p:nvSpPr>
        <p:spPr>
          <a:xfrm>
            <a:off x="4480560" y="2011680"/>
            <a:ext cx="1371600" cy="365760"/>
          </a:xfrm>
          <a:prstGeom prst="rect">
            <a:avLst/>
          </a:prstGeom>
          <a:noFill/>
          <a:ln/>
        </p:spPr>
        <p:txBody>
          <a:bodyPr wrap="square" lIns="0" tIns="0" rIns="0" bIns="0" rtlCol="0" anchor="t"/>
          <a:lstStyle/>
          <a:p>
            <a:pPr indent="0" marL="0">
              <a:buNone/>
            </a:pPr>
            <a:r>
              <a:rPr lang="en-US" sz="1400" b="1" dirty="0">
                <a:solidFill>
                  <a:schemeClr val="tx2"/>
                </a:solidFill>
              </a:rPr>
              <a:t>Baseline</a:t>
            </a:r>
            <a:endParaRPr lang="en-US" sz="1400" dirty="0"/>
          </a:p>
        </p:txBody>
      </p:sp>
      <p:sp>
        <p:nvSpPr>
          <p:cNvPr id="17" name="Text 14"/>
          <p:cNvSpPr txBox="1"/>
          <p:nvPr/>
        </p:nvSpPr>
        <p:spPr>
          <a:xfrm>
            <a:off x="4480560" y="2423160"/>
            <a:ext cx="1417320" cy="640080"/>
          </a:xfrm>
          <a:prstGeom prst="rect">
            <a:avLst/>
          </a:prstGeom>
          <a:noFill/>
          <a:ln/>
        </p:spPr>
        <p:txBody>
          <a:bodyPr wrap="square" lIns="0" tIns="0" rIns="0" bIns="0" rtlCol="0" anchor="t"/>
          <a:lstStyle/>
          <a:p>
            <a:pPr indent="0" marL="0">
              <a:buNone/>
            </a:pPr>
            <a:r>
              <a:rPr lang="en-US" sz="1400" dirty="0">
                <a:solidFill>
                  <a:schemeClr val="tx1"/>
                </a:solidFill>
              </a:rPr>
              <a:t>Simple, interpretable</a:t>
            </a:r>
            <a:endParaRPr lang="en-US" sz="1400" dirty="0"/>
          </a:p>
        </p:txBody>
      </p:sp>
      <p:sp>
        <p:nvSpPr>
          <p:cNvPr id="18" name="Card"/>
          <p:cNvSpPr/>
          <p:nvPr/>
        </p:nvSpPr>
        <p:spPr>
          <a:xfrm>
            <a:off x="6172200" y="1463040"/>
            <a:ext cx="1691640" cy="1737360"/>
          </a:xfrm>
          <a:prstGeom prst="roundRect">
            <a:avLst>
              <a:gd name="adj" fmla="val 5405"/>
            </a:avLst>
          </a:prstGeom>
          <a:solidFill>
            <a:schemeClr val="bg2"/>
          </a:solidFill>
          <a:ln/>
        </p:spPr>
      </p:sp>
      <p:sp>
        <p:nvSpPr>
          <p:cNvPr id="19" name="Text 16"/>
          <p:cNvSpPr txBox="1"/>
          <p:nvPr/>
        </p:nvSpPr>
        <p:spPr>
          <a:xfrm>
            <a:off x="6355080" y="1600200"/>
            <a:ext cx="1280160" cy="365760"/>
          </a:xfrm>
          <a:prstGeom prst="rect">
            <a:avLst/>
          </a:prstGeom>
          <a:noFill/>
          <a:ln/>
        </p:spPr>
        <p:txBody>
          <a:bodyPr wrap="square" lIns="0" tIns="0" rIns="0" bIns="0" rtlCol="0" anchor="t"/>
          <a:lstStyle/>
          <a:p>
            <a:pPr indent="0" marL="0">
              <a:buNone/>
            </a:pPr>
            <a:r>
              <a:rPr lang="en-US" sz="2000" b="1" dirty="0">
                <a:solidFill>
                  <a:schemeClr val="accent2"/>
                </a:solidFill>
              </a:rPr>
              <a:t>4</a:t>
            </a:r>
            <a:endParaRPr lang="en-US" sz="2000" dirty="0"/>
          </a:p>
        </p:txBody>
      </p:sp>
      <p:sp>
        <p:nvSpPr>
          <p:cNvPr id="20" name="Text 17"/>
          <p:cNvSpPr txBox="1"/>
          <p:nvPr/>
        </p:nvSpPr>
        <p:spPr>
          <a:xfrm>
            <a:off x="6355080" y="2011680"/>
            <a:ext cx="1371600" cy="365760"/>
          </a:xfrm>
          <a:prstGeom prst="rect">
            <a:avLst/>
          </a:prstGeom>
          <a:noFill/>
          <a:ln/>
        </p:spPr>
        <p:txBody>
          <a:bodyPr wrap="square" lIns="0" tIns="0" rIns="0" bIns="0" rtlCol="0" anchor="t"/>
          <a:lstStyle/>
          <a:p>
            <a:pPr indent="0" marL="0">
              <a:buNone/>
            </a:pPr>
            <a:r>
              <a:rPr lang="en-US" sz="1400" b="1" dirty="0">
                <a:solidFill>
                  <a:schemeClr val="tx2"/>
                </a:solidFill>
              </a:rPr>
              <a:t>Candidate</a:t>
            </a:r>
            <a:endParaRPr lang="en-US" sz="1400" dirty="0"/>
          </a:p>
        </p:txBody>
      </p:sp>
      <p:sp>
        <p:nvSpPr>
          <p:cNvPr id="21" name="Text 18"/>
          <p:cNvSpPr txBox="1"/>
          <p:nvPr/>
        </p:nvSpPr>
        <p:spPr>
          <a:xfrm>
            <a:off x="6355080" y="2423160"/>
            <a:ext cx="1417320" cy="640080"/>
          </a:xfrm>
          <a:prstGeom prst="rect">
            <a:avLst/>
          </a:prstGeom>
          <a:noFill/>
          <a:ln/>
        </p:spPr>
        <p:txBody>
          <a:bodyPr wrap="square" lIns="0" tIns="0" rIns="0" bIns="0" rtlCol="0" anchor="t"/>
          <a:lstStyle/>
          <a:p>
            <a:pPr indent="0" marL="0">
              <a:buNone/>
            </a:pPr>
            <a:r>
              <a:rPr lang="en-US" sz="1400" dirty="0">
                <a:solidFill>
                  <a:schemeClr val="tx1"/>
                </a:solidFill>
              </a:rPr>
              <a:t>Non-linear tabular</a:t>
            </a:r>
            <a:endParaRPr lang="en-US" sz="1400" dirty="0"/>
          </a:p>
        </p:txBody>
      </p:sp>
      <p:sp>
        <p:nvSpPr>
          <p:cNvPr id="22" name="Card"/>
          <p:cNvSpPr/>
          <p:nvPr/>
        </p:nvSpPr>
        <p:spPr>
          <a:xfrm>
            <a:off x="8046720" y="1463040"/>
            <a:ext cx="1691640" cy="1737360"/>
          </a:xfrm>
          <a:prstGeom prst="roundRect">
            <a:avLst>
              <a:gd name="adj" fmla="val 5405"/>
            </a:avLst>
          </a:prstGeom>
          <a:solidFill>
            <a:schemeClr val="bg2"/>
          </a:solidFill>
          <a:ln/>
        </p:spPr>
      </p:sp>
      <p:sp>
        <p:nvSpPr>
          <p:cNvPr id="23" name="Text 20"/>
          <p:cNvSpPr txBox="1"/>
          <p:nvPr/>
        </p:nvSpPr>
        <p:spPr>
          <a:xfrm>
            <a:off x="8229600" y="1600200"/>
            <a:ext cx="1280160" cy="365760"/>
          </a:xfrm>
          <a:prstGeom prst="rect">
            <a:avLst/>
          </a:prstGeom>
          <a:noFill/>
          <a:ln/>
        </p:spPr>
        <p:txBody>
          <a:bodyPr wrap="square" lIns="0" tIns="0" rIns="0" bIns="0" rtlCol="0" anchor="t"/>
          <a:lstStyle/>
          <a:p>
            <a:pPr indent="0" marL="0">
              <a:buNone/>
            </a:pPr>
            <a:r>
              <a:rPr lang="en-US" sz="2000" b="1" dirty="0">
                <a:solidFill>
                  <a:schemeClr val="accent2"/>
                </a:solidFill>
              </a:rPr>
              <a:t>5</a:t>
            </a:r>
            <a:endParaRPr lang="en-US" sz="2000" dirty="0"/>
          </a:p>
        </p:txBody>
      </p:sp>
      <p:sp>
        <p:nvSpPr>
          <p:cNvPr id="24" name="Text 21"/>
          <p:cNvSpPr txBox="1"/>
          <p:nvPr/>
        </p:nvSpPr>
        <p:spPr>
          <a:xfrm>
            <a:off x="8229600" y="2011680"/>
            <a:ext cx="1371600" cy="365760"/>
          </a:xfrm>
          <a:prstGeom prst="rect">
            <a:avLst/>
          </a:prstGeom>
          <a:noFill/>
          <a:ln/>
        </p:spPr>
        <p:txBody>
          <a:bodyPr wrap="square" lIns="0" tIns="0" rIns="0" bIns="0" rtlCol="0" anchor="t"/>
          <a:lstStyle/>
          <a:p>
            <a:pPr indent="0" marL="0">
              <a:buNone/>
            </a:pPr>
            <a:r>
              <a:rPr lang="en-US" sz="1400" b="1" dirty="0">
                <a:solidFill>
                  <a:schemeClr val="tx2"/>
                </a:solidFill>
              </a:rPr>
              <a:t>Validate</a:t>
            </a:r>
            <a:endParaRPr lang="en-US" sz="1400" dirty="0"/>
          </a:p>
        </p:txBody>
      </p:sp>
      <p:sp>
        <p:nvSpPr>
          <p:cNvPr id="25" name="Text 22"/>
          <p:cNvSpPr txBox="1"/>
          <p:nvPr/>
        </p:nvSpPr>
        <p:spPr>
          <a:xfrm>
            <a:off x="8229600" y="2423160"/>
            <a:ext cx="1417320" cy="640080"/>
          </a:xfrm>
          <a:prstGeom prst="rect">
            <a:avLst/>
          </a:prstGeom>
          <a:noFill/>
          <a:ln/>
        </p:spPr>
        <p:txBody>
          <a:bodyPr wrap="square" lIns="0" tIns="0" rIns="0" bIns="0" rtlCol="0" anchor="t"/>
          <a:lstStyle/>
          <a:p>
            <a:pPr indent="0" marL="0">
              <a:buNone/>
            </a:pPr>
            <a:r>
              <a:rPr lang="en-US" sz="1400" dirty="0">
                <a:solidFill>
                  <a:schemeClr val="tx1"/>
                </a:solidFill>
              </a:rPr>
              <a:t>Grouped, time-aware</a:t>
            </a:r>
            <a:endParaRPr lang="en-US" sz="1400" dirty="0"/>
          </a:p>
        </p:txBody>
      </p:sp>
      <p:sp>
        <p:nvSpPr>
          <p:cNvPr id="26" name="Card"/>
          <p:cNvSpPr/>
          <p:nvPr/>
        </p:nvSpPr>
        <p:spPr>
          <a:xfrm>
            <a:off x="9921240" y="1463040"/>
            <a:ext cx="1691640" cy="1737360"/>
          </a:xfrm>
          <a:prstGeom prst="roundRect">
            <a:avLst>
              <a:gd name="adj" fmla="val 5405"/>
            </a:avLst>
          </a:prstGeom>
          <a:solidFill>
            <a:schemeClr val="bg2"/>
          </a:solidFill>
          <a:ln/>
        </p:spPr>
      </p:sp>
      <p:sp>
        <p:nvSpPr>
          <p:cNvPr id="27" name="Text 24"/>
          <p:cNvSpPr txBox="1"/>
          <p:nvPr/>
        </p:nvSpPr>
        <p:spPr>
          <a:xfrm>
            <a:off x="10104120" y="1600200"/>
            <a:ext cx="1280160" cy="365760"/>
          </a:xfrm>
          <a:prstGeom prst="rect">
            <a:avLst/>
          </a:prstGeom>
          <a:noFill/>
          <a:ln/>
        </p:spPr>
        <p:txBody>
          <a:bodyPr wrap="square" lIns="0" tIns="0" rIns="0" bIns="0" rtlCol="0" anchor="t"/>
          <a:lstStyle/>
          <a:p>
            <a:pPr indent="0" marL="0">
              <a:buNone/>
            </a:pPr>
            <a:r>
              <a:rPr lang="en-US" sz="2000" b="1" dirty="0">
                <a:solidFill>
                  <a:schemeClr val="accent2"/>
                </a:solidFill>
              </a:rPr>
              <a:t>6</a:t>
            </a:r>
            <a:endParaRPr lang="en-US" sz="2000" dirty="0"/>
          </a:p>
        </p:txBody>
      </p:sp>
      <p:sp>
        <p:nvSpPr>
          <p:cNvPr id="28" name="Text 25"/>
          <p:cNvSpPr txBox="1"/>
          <p:nvPr/>
        </p:nvSpPr>
        <p:spPr>
          <a:xfrm>
            <a:off x="10104120" y="2011680"/>
            <a:ext cx="1371600" cy="365760"/>
          </a:xfrm>
          <a:prstGeom prst="rect">
            <a:avLst/>
          </a:prstGeom>
          <a:noFill/>
          <a:ln/>
        </p:spPr>
        <p:txBody>
          <a:bodyPr wrap="square" lIns="0" tIns="0" rIns="0" bIns="0" rtlCol="0" anchor="t"/>
          <a:lstStyle/>
          <a:p>
            <a:pPr indent="0" marL="0">
              <a:buNone/>
            </a:pPr>
            <a:r>
              <a:rPr lang="en-US" sz="1400" b="1" dirty="0">
                <a:solidFill>
                  <a:schemeClr val="tx2"/>
                </a:solidFill>
              </a:rPr>
              <a:t>Infer and log</a:t>
            </a:r>
            <a:endParaRPr lang="en-US" sz="1400" dirty="0"/>
          </a:p>
        </p:txBody>
      </p:sp>
      <p:sp>
        <p:nvSpPr>
          <p:cNvPr id="29" name="Text 26"/>
          <p:cNvSpPr txBox="1"/>
          <p:nvPr/>
        </p:nvSpPr>
        <p:spPr>
          <a:xfrm>
            <a:off x="10104120" y="2423160"/>
            <a:ext cx="1417320" cy="640080"/>
          </a:xfrm>
          <a:prstGeom prst="rect">
            <a:avLst/>
          </a:prstGeom>
          <a:noFill/>
          <a:ln/>
        </p:spPr>
        <p:txBody>
          <a:bodyPr wrap="square" lIns="0" tIns="0" rIns="0" bIns="0" rtlCol="0" anchor="t"/>
          <a:lstStyle/>
          <a:p>
            <a:pPr indent="0" marL="0">
              <a:buNone/>
            </a:pPr>
            <a:r>
              <a:rPr lang="en-US" sz="1400" dirty="0">
                <a:solidFill>
                  <a:schemeClr val="tx1"/>
                </a:solidFill>
              </a:rPr>
              <a:t>Versioned output</a:t>
            </a:r>
            <a:endParaRPr lang="en-US" sz="1400" dirty="0"/>
          </a:p>
        </p:txBody>
      </p:sp>
      <p:sp>
        <p:nvSpPr>
          <p:cNvPr id="30" name="Card"/>
          <p:cNvSpPr/>
          <p:nvPr/>
        </p:nvSpPr>
        <p:spPr>
          <a:xfrm>
            <a:off x="548640" y="3520440"/>
            <a:ext cx="5394960" cy="2286000"/>
          </a:xfrm>
          <a:prstGeom prst="roundRect">
            <a:avLst>
              <a:gd name="adj" fmla="val 4000"/>
            </a:avLst>
          </a:prstGeom>
          <a:solidFill>
            <a:schemeClr val="bg2"/>
          </a:solidFill>
          <a:ln/>
        </p:spPr>
      </p:sp>
      <p:sp>
        <p:nvSpPr>
          <p:cNvPr id="31" name="Text 28"/>
          <p:cNvSpPr txBox="1"/>
          <p:nvPr/>
        </p:nvSpPr>
        <p:spPr>
          <a:xfrm>
            <a:off x="822960" y="365760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Leakage prevention</a:t>
            </a:r>
            <a:endParaRPr lang="en-US" sz="2000" dirty="0"/>
          </a:p>
        </p:txBody>
      </p:sp>
      <p:sp>
        <p:nvSpPr>
          <p:cNvPr id="32" name="Text 29"/>
          <p:cNvSpPr txBox="1"/>
          <p:nvPr/>
        </p:nvSpPr>
        <p:spPr>
          <a:xfrm>
            <a:off x="822960" y="4160520"/>
            <a:ext cx="48463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Patient-grouped train/test split</a:t>
            </a:r>
            <a:endParaRPr lang="en-US" sz="1400" dirty="0"/>
          </a:p>
          <a:p>
            <a:pPr marL="342900" indent="-342900">
              <a:spcAft>
                <a:spcPts val="600"/>
              </a:spcAft>
              <a:buSzPct val="100000"/>
              <a:buChar char="•"/>
            </a:pPr>
            <a:r>
              <a:rPr lang="en-US" sz="1400" dirty="0">
                <a:solidFill>
                  <a:schemeClr val="tx1"/>
                </a:solidFill>
              </a:rPr>
              <a:t>Time-ordered validation windows</a:t>
            </a:r>
            <a:endParaRPr lang="en-US" sz="1400" dirty="0"/>
          </a:p>
          <a:p>
            <a:pPr marL="342900" indent="-342900">
              <a:spcAft>
                <a:spcPts val="600"/>
              </a:spcAft>
              <a:buSzPct val="100000"/>
              <a:buChar char="•"/>
            </a:pPr>
            <a:r>
              <a:rPr lang="en-US" sz="1400" dirty="0">
                <a:solidFill>
                  <a:schemeClr val="tx1"/>
                </a:solidFill>
              </a:rPr>
              <a:t>Fit transformers on training data only</a:t>
            </a:r>
            <a:endParaRPr lang="en-US" sz="1400" dirty="0"/>
          </a:p>
        </p:txBody>
      </p:sp>
      <p:sp>
        <p:nvSpPr>
          <p:cNvPr id="33" name="Card"/>
          <p:cNvSpPr/>
          <p:nvPr/>
        </p:nvSpPr>
        <p:spPr>
          <a:xfrm>
            <a:off x="6217920" y="3520440"/>
            <a:ext cx="5394960" cy="2286000"/>
          </a:xfrm>
          <a:prstGeom prst="roundRect">
            <a:avLst>
              <a:gd name="adj" fmla="val 4000"/>
            </a:avLst>
          </a:prstGeom>
          <a:solidFill>
            <a:schemeClr val="bg2"/>
          </a:solidFill>
          <a:ln/>
        </p:spPr>
      </p:sp>
      <p:sp>
        <p:nvSpPr>
          <p:cNvPr id="34" name="Text 31"/>
          <p:cNvSpPr txBox="1"/>
          <p:nvPr/>
        </p:nvSpPr>
        <p:spPr>
          <a:xfrm>
            <a:off x="6492240" y="365760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Models (proposed, confirm)</a:t>
            </a:r>
            <a:endParaRPr lang="en-US" sz="2000" dirty="0"/>
          </a:p>
        </p:txBody>
      </p:sp>
      <p:sp>
        <p:nvSpPr>
          <p:cNvPr id="35" name="Text 32"/>
          <p:cNvSpPr txBox="1"/>
          <p:nvPr/>
        </p:nvSpPr>
        <p:spPr>
          <a:xfrm>
            <a:off x="6492240" y="4160520"/>
            <a:ext cx="484632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Baseline: logistic regression</a:t>
            </a:r>
            <a:endParaRPr lang="en-US" sz="1400" dirty="0"/>
          </a:p>
          <a:p>
            <a:pPr marL="342900" indent="-342900">
              <a:spcAft>
                <a:spcPts val="600"/>
              </a:spcAft>
              <a:buSzPct val="100000"/>
              <a:buChar char="•"/>
            </a:pPr>
            <a:r>
              <a:rPr lang="en-US" sz="1400" dirty="0">
                <a:solidFill>
                  <a:schemeClr val="tx1"/>
                </a:solidFill>
              </a:rPr>
              <a:t>Candidate: gradient-boosted trees</a:t>
            </a:r>
            <a:endParaRPr lang="en-US" sz="1400" dirty="0"/>
          </a:p>
          <a:p>
            <a:pPr marL="342900" indent="-342900">
              <a:spcAft>
                <a:spcPts val="600"/>
              </a:spcAft>
              <a:buSzPct val="100000"/>
              <a:buChar char="•"/>
            </a:pPr>
            <a:r>
              <a:rPr lang="en-US" sz="1400" dirty="0">
                <a:solidFill>
                  <a:schemeClr val="tx1"/>
                </a:solidFill>
              </a:rPr>
              <a:t>Library: scikit-learn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Evaluation and Results</a:t>
            </a:r>
            <a:endParaRPr lang="en-US" sz="3400" dirty="0"/>
          </a:p>
        </p:txBody>
      </p:sp>
      <p:sp>
        <p:nvSpPr>
          <p:cNvPr id="4" name="Status pending"/>
          <p:cNvSpPr/>
          <p:nvPr/>
        </p:nvSpPr>
        <p:spPr>
          <a:xfrm>
            <a:off x="9692640" y="548640"/>
            <a:ext cx="1920240" cy="237744"/>
          </a:xfrm>
          <a:prstGeom prst="roundRect">
            <a:avLst>
              <a:gd name="adj" fmla="val 50000"/>
            </a:avLst>
          </a:prstGeom>
          <a:solidFill>
            <a:schemeClr val="accent2"/>
          </a:solidFill>
          <a:ln/>
        </p:spPr>
      </p:sp>
      <p:sp>
        <p:nvSpPr>
          <p:cNvPr id="5" name="Text 2"/>
          <p:cNvSpPr txBox="1"/>
          <p:nvPr/>
        </p:nvSpPr>
        <p:spPr>
          <a:xfrm>
            <a:off x="9692640" y="548640"/>
            <a:ext cx="1920240" cy="237744"/>
          </a:xfrm>
          <a:prstGeom prst="rect">
            <a:avLst/>
          </a:prstGeom>
          <a:noFill/>
          <a:ln/>
        </p:spPr>
        <p:txBody>
          <a:bodyPr wrap="square" lIns="0" tIns="0" rIns="0" bIns="0" rtlCol="0" anchor="ctr"/>
          <a:lstStyle/>
          <a:p>
            <a:pPr algn="ctr" indent="0" marL="0">
              <a:buNone/>
            </a:pPr>
            <a:r>
              <a:rPr lang="en-US" sz="1000" b="1" dirty="0">
                <a:solidFill>
                  <a:schemeClr val="bg1"/>
                </a:solidFill>
              </a:rPr>
              <a:t>EVALUATION PENDING</a:t>
            </a:r>
            <a:endParaRPr lang="en-US" sz="1000" dirty="0"/>
          </a:p>
        </p:txBody>
      </p:sp>
      <p:sp>
        <p:nvSpPr>
          <p:cNvPr id="6" name="Card"/>
          <p:cNvSpPr/>
          <p:nvPr/>
        </p:nvSpPr>
        <p:spPr>
          <a:xfrm>
            <a:off x="548640" y="1417320"/>
            <a:ext cx="5394960" cy="4114800"/>
          </a:xfrm>
          <a:prstGeom prst="roundRect">
            <a:avLst>
              <a:gd name="adj" fmla="val 2222"/>
            </a:avLst>
          </a:prstGeom>
          <a:solidFill>
            <a:schemeClr val="bg2"/>
          </a:solidFill>
          <a:ln/>
        </p:spPr>
      </p:sp>
      <p:sp>
        <p:nvSpPr>
          <p:cNvPr id="7" name="Text 4"/>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Evaluation protocol</a:t>
            </a:r>
            <a:endParaRPr lang="en-US" sz="2000" dirty="0"/>
          </a:p>
        </p:txBody>
      </p:sp>
      <p:sp>
        <p:nvSpPr>
          <p:cNvPr id="8" name="Text 5"/>
          <p:cNvSpPr txBox="1"/>
          <p:nvPr/>
        </p:nvSpPr>
        <p:spPr>
          <a:xfrm>
            <a:off x="822960" y="2057400"/>
            <a:ext cx="4846320" cy="33832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Patient-grouped, time-aware split</a:t>
            </a:r>
            <a:endParaRPr lang="en-US" sz="1400" dirty="0"/>
          </a:p>
          <a:p>
            <a:pPr marL="342900" indent="-342900">
              <a:spcAft>
                <a:spcPts val="600"/>
              </a:spcAft>
              <a:buSzPct val="100000"/>
              <a:buChar char="•"/>
            </a:pPr>
            <a:r>
              <a:rPr lang="en-US" sz="1400" dirty="0">
                <a:solidFill>
                  <a:schemeClr val="tx1"/>
                </a:solidFill>
              </a:rPr>
              <a:t>Precision, recall, F1, AUROC, AUPRC</a:t>
            </a:r>
            <a:endParaRPr lang="en-US" sz="1400" dirty="0"/>
          </a:p>
          <a:p>
            <a:pPr marL="342900" indent="-342900">
              <a:spcAft>
                <a:spcPts val="600"/>
              </a:spcAft>
              <a:buSzPct val="100000"/>
              <a:buChar char="•"/>
            </a:pPr>
            <a:r>
              <a:rPr lang="en-US" sz="1400" dirty="0">
                <a:solidFill>
                  <a:schemeClr val="tx1"/>
                </a:solidFill>
              </a:rPr>
              <a:t>Calibration curve and Brier score</a:t>
            </a:r>
            <a:endParaRPr lang="en-US" sz="1400" dirty="0"/>
          </a:p>
          <a:p>
            <a:pPr marL="342900" indent="-342900">
              <a:spcAft>
                <a:spcPts val="600"/>
              </a:spcAft>
              <a:buSzPct val="100000"/>
              <a:buChar char="•"/>
            </a:pPr>
            <a:r>
              <a:rPr lang="en-US" sz="1400" dirty="0">
                <a:solidFill>
                  <a:schemeClr val="tx1"/>
                </a:solidFill>
              </a:rPr>
              <a:t>Baseline vs candidate, same folds</a:t>
            </a:r>
            <a:endParaRPr lang="en-US" sz="1400" dirty="0"/>
          </a:p>
          <a:p>
            <a:pPr marL="342900" indent="-342900">
              <a:spcAft>
                <a:spcPts val="600"/>
              </a:spcAft>
              <a:buSzPct val="100000"/>
              <a:buChar char="•"/>
            </a:pPr>
            <a:r>
              <a:rPr lang="en-US" sz="1400" dirty="0">
                <a:solidFill>
                  <a:schemeClr val="tx1"/>
                </a:solidFill>
              </a:rPr>
              <a:t>Confusion matrix at a stated threshold</a:t>
            </a:r>
            <a:endParaRPr lang="en-US" sz="1400" dirty="0"/>
          </a:p>
        </p:txBody>
      </p:sp>
      <p:sp>
        <p:nvSpPr>
          <p:cNvPr id="9" name="Text 6"/>
          <p:cNvSpPr txBox="1"/>
          <p:nvPr/>
        </p:nvSpPr>
        <p:spPr>
          <a:xfrm>
            <a:off x="6217920" y="1417320"/>
            <a:ext cx="5394960" cy="320040"/>
          </a:xfrm>
          <a:prstGeom prst="rect">
            <a:avLst/>
          </a:prstGeom>
          <a:noFill/>
          <a:ln/>
        </p:spPr>
        <p:txBody>
          <a:bodyPr wrap="square" lIns="0" tIns="0" rIns="0" bIns="0" rtlCol="0" anchor="t"/>
          <a:lstStyle/>
          <a:p>
            <a:pPr indent="0" marL="0">
              <a:buNone/>
            </a:pPr>
            <a:r>
              <a:rPr lang="en-US" sz="1600" b="1" dirty="0">
                <a:solidFill>
                  <a:schemeClr val="tx2"/>
                </a:solidFill>
              </a:rPr>
              <a:t>Results table (to be populated from evaluation output)</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17920" y="1874520"/>
          <a:ext cx="9144000" cy="914400"/>
        </p:xfrm>
        <a:graphic>
          <a:graphicData uri="http://schemas.openxmlformats.org/drawingml/2006/table">
            <a:tbl>
              <a:tblPr/>
              <a:tblGrid>
                <a:gridCol w="2103120"/>
                <a:gridCol w="1645920"/>
                <a:gridCol w="1645920"/>
              </a:tblGrid>
              <a:tr h="457200">
                <a:tc>
                  <a:txBody>
                    <a:bodyPr/>
                    <a:lstStyle/>
                    <a:p>
                      <a:pPr indent="0" marL="0">
                        <a:buNone/>
                      </a:pPr>
                      <a:r>
                        <a:rPr lang="en-US" sz="1400" b="1" dirty="0">
                          <a:solidFill>
                            <a:srgbClr val="FFFFFF"/>
                          </a:solidFill>
                        </a:rPr>
                        <a:t>Metric</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Baseline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Candidate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r>
              <a:tr h="457200">
                <a:tc>
                  <a:txBody>
                    <a:bodyPr/>
                    <a:lstStyle/>
                    <a:p>
                      <a:pPr indent="0" marL="0">
                        <a:buNone/>
                      </a:pPr>
                      <a:r>
                        <a:rPr lang="en-US" sz="1400" dirty="0">
                          <a:solidFill>
                            <a:srgbClr val="14213D"/>
                          </a:solidFill>
                        </a:rPr>
                        <a:t>Precision</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Recall</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F1-score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AUROC</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AUPRC</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Brier score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pending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11" name="Text 7"/>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400" b="1" dirty="0">
                <a:solidFill>
                  <a:schemeClr val="tx2"/>
                </a:solidFill>
              </a:rPr>
              <a:t>No score is displayed until it is traceable to saved evaluation output.</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Explainability and Responsible Predictions</a:t>
            </a:r>
            <a:endParaRPr lang="en-US" sz="3400" dirty="0"/>
          </a:p>
        </p:txBody>
      </p:sp>
      <p:sp>
        <p:nvSpPr>
          <p:cNvPr id="4" name="Card"/>
          <p:cNvSpPr/>
          <p:nvPr/>
        </p:nvSpPr>
        <p:spPr>
          <a:xfrm>
            <a:off x="548640" y="1417320"/>
            <a:ext cx="5394960" cy="4206240"/>
          </a:xfrm>
          <a:prstGeom prst="roundRect">
            <a:avLst>
              <a:gd name="adj" fmla="val 2174"/>
            </a:avLst>
          </a:prstGeom>
          <a:solidFill>
            <a:schemeClr val="tx2"/>
          </a:solidFill>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1600" b="1" dirty="0">
                <a:solidFill>
                  <a:srgbClr val="22D3EE"/>
                </a:solidFill>
              </a:rPr>
              <a:t>Conceptual example, not model output</a:t>
            </a:r>
            <a:endParaRPr lang="en-US" sz="1600" dirty="0"/>
          </a:p>
        </p:txBody>
      </p:sp>
      <p:sp>
        <p:nvSpPr>
          <p:cNvPr id="6" name="Text 3"/>
          <p:cNvSpPr txBox="1"/>
          <p:nvPr/>
        </p:nvSpPr>
        <p:spPr>
          <a:xfrm>
            <a:off x="822960" y="2103120"/>
            <a:ext cx="4846320" cy="3291840"/>
          </a:xfrm>
          <a:prstGeom prst="rect">
            <a:avLst/>
          </a:prstGeom>
          <a:noFill/>
          <a:ln/>
        </p:spPr>
        <p:txBody>
          <a:bodyPr wrap="square" lIns="0" tIns="0" rIns="0" bIns="0" rtlCol="0" anchor="t"/>
          <a:lstStyle/>
          <a:p>
            <a:pPr indent="0" marL="0">
              <a:spcAft>
                <a:spcPts val="1000"/>
              </a:spcAft>
              <a:buNone/>
            </a:pPr>
            <a:r>
              <a:rPr lang="en-US" sz="1600" dirty="0">
                <a:solidFill>
                  <a:schemeClr val="bg1"/>
                </a:solidFill>
              </a:rPr>
              <a:t>Estimate: &lt;value&gt; within &lt;horizon&gt;</a:t>
            </a:r>
            <a:endParaRPr lang="en-US" sz="1600" dirty="0"/>
          </a:p>
          <a:p>
            <a:pPr indent="0" marL="0">
              <a:spcAft>
                <a:spcPts val="1000"/>
              </a:spcAft>
              <a:buNone/>
            </a:pPr>
            <a:r>
              <a:rPr lang="en-US" sz="1600" dirty="0">
                <a:solidFill>
                  <a:schemeClr val="bg1"/>
                </a:solidFill>
              </a:rPr>
              <a:t>Top features: &lt;ranked list&gt;</a:t>
            </a:r>
            <a:endParaRPr lang="en-US" sz="1600" dirty="0"/>
          </a:p>
          <a:p>
            <a:pPr indent="0" marL="0">
              <a:spcAft>
                <a:spcPts val="1000"/>
              </a:spcAft>
              <a:buNone/>
            </a:pPr>
            <a:r>
              <a:rPr lang="en-US" sz="1600" dirty="0">
                <a:solidFill>
                  <a:schemeClr val="bg1"/>
                </a:solidFill>
              </a:rPr>
              <a:t>Data freshness: &lt;age of last reading&gt;</a:t>
            </a:r>
            <a:endParaRPr lang="en-US" sz="1600" dirty="0"/>
          </a:p>
          <a:p>
            <a:pPr indent="0" marL="0">
              <a:spcAft>
                <a:spcPts val="1000"/>
              </a:spcAft>
              <a:buNone/>
            </a:pPr>
            <a:r>
              <a:rPr lang="en-US" sz="1600" dirty="0">
                <a:solidFill>
                  <a:schemeClr val="bg1"/>
                </a:solidFill>
              </a:rPr>
              <a:t>Missing inputs: &lt;list&gt;</a:t>
            </a:r>
            <a:endParaRPr lang="en-US" sz="1600" dirty="0"/>
          </a:p>
          <a:p>
            <a:pPr indent="0" marL="0">
              <a:spcAft>
                <a:spcPts val="1000"/>
              </a:spcAft>
              <a:buNone/>
            </a:pPr>
            <a:r>
              <a:rPr lang="en-US" sz="1600" dirty="0">
                <a:solidFill>
                  <a:schemeClr val="bg1"/>
                </a:solidFill>
              </a:rPr>
              <a:t>Uncertainty: &lt;only if estimated&gt;</a:t>
            </a:r>
            <a:endParaRPr lang="en-US" sz="1600" dirty="0"/>
          </a:p>
          <a:p>
            <a:pPr indent="0" marL="0">
              <a:spcAft>
                <a:spcPts val="1000"/>
              </a:spcAft>
              <a:buNone/>
            </a:pPr>
            <a:r>
              <a:rPr lang="en-US" sz="1600" dirty="0">
                <a:solidFill>
                  <a:schemeClr val="bg1"/>
                </a:solidFill>
              </a:rPr>
              <a:t>Limitations: synthetic training data</a:t>
            </a:r>
            <a:endParaRPr lang="en-US" sz="1600" dirty="0"/>
          </a:p>
        </p:txBody>
      </p:sp>
      <p:pic>
        <p:nvPicPr>
          <p:cNvPr id="7" name="Image 0" descr="Predicted 2-hour risk card with Explain link from the live prototype">    </p:cNvPr>
          <p:cNvPicPr>
            <a:picLocks noChangeAspect="1"/>
          </p:cNvPicPr>
          <p:nvPr/>
        </p:nvPicPr>
        <p:blipFill>
          <a:blip r:embed="rId1"/>
          <a:stretch>
            <a:fillRect/>
          </a:stretch>
        </p:blipFill>
        <p:spPr>
          <a:xfrm>
            <a:off x="6309360" y="1417320"/>
            <a:ext cx="5303520" cy="1316736"/>
          </a:xfrm>
          <a:prstGeom prst="rect">
            <a:avLst/>
          </a:prstGeom>
        </p:spPr>
      </p:pic>
      <p:sp>
        <p:nvSpPr>
          <p:cNvPr id="8" name="Text 4"/>
          <p:cNvSpPr txBox="1"/>
          <p:nvPr/>
        </p:nvSpPr>
        <p:spPr>
          <a:xfrm>
            <a:off x="6309360" y="2743200"/>
            <a:ext cx="5303520" cy="228600"/>
          </a:xfrm>
          <a:prstGeom prst="rect">
            <a:avLst/>
          </a:prstGeom>
          <a:noFill/>
          <a:ln/>
        </p:spPr>
        <p:txBody>
          <a:bodyPr wrap="square" lIns="0" tIns="0" rIns="0" bIns="0" rtlCol="0" anchor="t"/>
          <a:lstStyle/>
          <a:p>
            <a:pPr indent="0" marL="0">
              <a:buNone/>
            </a:pPr>
            <a:r>
              <a:rPr lang="en-US" sz="1200" i="1" dirty="0">
                <a:solidFill>
                  <a:schemeClr val="accent6"/>
                </a:solidFill>
              </a:rPr>
              <a:t>Figure 11. Risk card from the live prototype (synthetic subject).</a:t>
            </a:r>
            <a:endParaRPr lang="en-US" sz="1200" dirty="0"/>
          </a:p>
        </p:txBody>
      </p:sp>
      <p:sp>
        <p:nvSpPr>
          <p:cNvPr id="9" name="Icon circle"/>
          <p:cNvSpPr/>
          <p:nvPr/>
        </p:nvSpPr>
        <p:spPr>
          <a:xfrm>
            <a:off x="6309360" y="3108960"/>
            <a:ext cx="457200" cy="457200"/>
          </a:xfrm>
          <a:prstGeom prst="ellipse">
            <a:avLst/>
          </a:prstGeom>
          <a:solidFill>
            <a:schemeClr val="accent1"/>
          </a:solidFill>
          <a:ln/>
        </p:spPr>
      </p:sp>
      <p:pic>
        <p:nvPicPr>
          <p:cNvPr id="10" name="Image 1" descr="ChartLine icon">    </p:cNvPr>
          <p:cNvPicPr>
            <a:picLocks noChangeAspect="1"/>
          </p:cNvPicPr>
          <p:nvPr/>
        </p:nvPicPr>
        <p:blipFill>
          <a:blip r:embed="rId2"/>
          <a:stretch>
            <a:fillRect/>
          </a:stretch>
        </p:blipFill>
        <p:spPr>
          <a:xfrm>
            <a:off x="6423660" y="3223260"/>
            <a:ext cx="228600" cy="228600"/>
          </a:xfrm>
          <a:prstGeom prst="rect">
            <a:avLst/>
          </a:prstGeom>
        </p:spPr>
      </p:pic>
      <p:sp>
        <p:nvSpPr>
          <p:cNvPr id="11" name="Text 6"/>
          <p:cNvSpPr txBox="1"/>
          <p:nvPr/>
        </p:nvSpPr>
        <p:spPr>
          <a:xfrm>
            <a:off x="6949440" y="3108960"/>
            <a:ext cx="4663440" cy="457200"/>
          </a:xfrm>
          <a:prstGeom prst="rect">
            <a:avLst/>
          </a:prstGeom>
          <a:noFill/>
          <a:ln/>
        </p:spPr>
        <p:txBody>
          <a:bodyPr wrap="square" lIns="0" tIns="0" rIns="0" bIns="0" rtlCol="0" anchor="ctr"/>
          <a:lstStyle/>
          <a:p>
            <a:pPr indent="0" marL="0">
              <a:buNone/>
            </a:pPr>
            <a:r>
              <a:rPr lang="en-US" sz="1600" b="1" dirty="0">
                <a:solidFill>
                  <a:schemeClr val="tx2"/>
                </a:solidFill>
              </a:rPr>
              <a:t>Estimate and horizon</a:t>
            </a:r>
            <a:endParaRPr lang="en-US" sz="1600" dirty="0"/>
          </a:p>
        </p:txBody>
      </p:sp>
      <p:sp>
        <p:nvSpPr>
          <p:cNvPr id="12" name="Icon circle"/>
          <p:cNvSpPr/>
          <p:nvPr/>
        </p:nvSpPr>
        <p:spPr>
          <a:xfrm>
            <a:off x="6309360" y="3712464"/>
            <a:ext cx="457200" cy="457200"/>
          </a:xfrm>
          <a:prstGeom prst="ellipse">
            <a:avLst/>
          </a:prstGeom>
          <a:solidFill>
            <a:schemeClr val="accent1"/>
          </a:solidFill>
          <a:ln/>
        </p:spPr>
      </p:sp>
      <p:pic>
        <p:nvPicPr>
          <p:cNvPr id="13" name="Image 2" descr="Search icon">    </p:cNvPr>
          <p:cNvPicPr>
            <a:picLocks noChangeAspect="1"/>
          </p:cNvPicPr>
          <p:nvPr/>
        </p:nvPicPr>
        <p:blipFill>
          <a:blip r:embed="rId3"/>
          <a:stretch>
            <a:fillRect/>
          </a:stretch>
        </p:blipFill>
        <p:spPr>
          <a:xfrm>
            <a:off x="6423660" y="3826764"/>
            <a:ext cx="228600" cy="228600"/>
          </a:xfrm>
          <a:prstGeom prst="rect">
            <a:avLst/>
          </a:prstGeom>
        </p:spPr>
      </p:pic>
      <p:sp>
        <p:nvSpPr>
          <p:cNvPr id="14" name="Text 8"/>
          <p:cNvSpPr txBox="1"/>
          <p:nvPr/>
        </p:nvSpPr>
        <p:spPr>
          <a:xfrm>
            <a:off x="6949440" y="3712464"/>
            <a:ext cx="4663440" cy="457200"/>
          </a:xfrm>
          <a:prstGeom prst="rect">
            <a:avLst/>
          </a:prstGeom>
          <a:noFill/>
          <a:ln/>
        </p:spPr>
        <p:txBody>
          <a:bodyPr wrap="square" lIns="0" tIns="0" rIns="0" bIns="0" rtlCol="0" anchor="ctr"/>
          <a:lstStyle/>
          <a:p>
            <a:pPr indent="0" marL="0">
              <a:buNone/>
            </a:pPr>
            <a:r>
              <a:rPr lang="en-US" sz="1600" b="1" dirty="0">
                <a:solidFill>
                  <a:schemeClr val="tx2"/>
                </a:solidFill>
              </a:rPr>
              <a:t>Contributing features, if computed</a:t>
            </a:r>
            <a:endParaRPr lang="en-US" sz="1600" dirty="0"/>
          </a:p>
        </p:txBody>
      </p:sp>
      <p:sp>
        <p:nvSpPr>
          <p:cNvPr id="15" name="Icon circle"/>
          <p:cNvSpPr/>
          <p:nvPr/>
        </p:nvSpPr>
        <p:spPr>
          <a:xfrm>
            <a:off x="6309360" y="4315968"/>
            <a:ext cx="457200" cy="457200"/>
          </a:xfrm>
          <a:prstGeom prst="ellipse">
            <a:avLst/>
          </a:prstGeom>
          <a:solidFill>
            <a:schemeClr val="accent1"/>
          </a:solidFill>
          <a:ln/>
        </p:spPr>
      </p:sp>
      <p:pic>
        <p:nvPicPr>
          <p:cNvPr id="16" name="Image 3" descr="Clock icon">    </p:cNvPr>
          <p:cNvPicPr>
            <a:picLocks noChangeAspect="1"/>
          </p:cNvPicPr>
          <p:nvPr/>
        </p:nvPicPr>
        <p:blipFill>
          <a:blip r:embed="rId4"/>
          <a:stretch>
            <a:fillRect/>
          </a:stretch>
        </p:blipFill>
        <p:spPr>
          <a:xfrm>
            <a:off x="6423660" y="4430268"/>
            <a:ext cx="228600" cy="228600"/>
          </a:xfrm>
          <a:prstGeom prst="rect">
            <a:avLst/>
          </a:prstGeom>
        </p:spPr>
      </p:pic>
      <p:sp>
        <p:nvSpPr>
          <p:cNvPr id="17" name="Text 10"/>
          <p:cNvSpPr txBox="1"/>
          <p:nvPr/>
        </p:nvSpPr>
        <p:spPr>
          <a:xfrm>
            <a:off x="6949440" y="4315968"/>
            <a:ext cx="4663440" cy="457200"/>
          </a:xfrm>
          <a:prstGeom prst="rect">
            <a:avLst/>
          </a:prstGeom>
          <a:noFill/>
          <a:ln/>
        </p:spPr>
        <p:txBody>
          <a:bodyPr wrap="square" lIns="0" tIns="0" rIns="0" bIns="0" rtlCol="0" anchor="ctr"/>
          <a:lstStyle/>
          <a:p>
            <a:pPr indent="0" marL="0">
              <a:buNone/>
            </a:pPr>
            <a:r>
              <a:rPr lang="en-US" sz="1600" b="1" dirty="0">
                <a:solidFill>
                  <a:schemeClr val="tx2"/>
                </a:solidFill>
              </a:rPr>
              <a:t>Freshness and missing inputs</a:t>
            </a:r>
            <a:endParaRPr lang="en-US" sz="1600" dirty="0"/>
          </a:p>
        </p:txBody>
      </p:sp>
      <p:sp>
        <p:nvSpPr>
          <p:cNvPr id="18" name="Icon circle"/>
          <p:cNvSpPr/>
          <p:nvPr/>
        </p:nvSpPr>
        <p:spPr>
          <a:xfrm>
            <a:off x="6309360" y="4919472"/>
            <a:ext cx="457200" cy="457200"/>
          </a:xfrm>
          <a:prstGeom prst="ellipse">
            <a:avLst/>
          </a:prstGeom>
          <a:solidFill>
            <a:schemeClr val="accent1"/>
          </a:solidFill>
          <a:ln/>
        </p:spPr>
      </p:sp>
      <p:pic>
        <p:nvPicPr>
          <p:cNvPr id="19" name="Image 4" descr="BalanceScale icon">    </p:cNvPr>
          <p:cNvPicPr>
            <a:picLocks noChangeAspect="1"/>
          </p:cNvPicPr>
          <p:nvPr/>
        </p:nvPicPr>
        <p:blipFill>
          <a:blip r:embed="rId5"/>
          <a:stretch>
            <a:fillRect/>
          </a:stretch>
        </p:blipFill>
        <p:spPr>
          <a:xfrm>
            <a:off x="6423660" y="5033772"/>
            <a:ext cx="228600" cy="228600"/>
          </a:xfrm>
          <a:prstGeom prst="rect">
            <a:avLst/>
          </a:prstGeom>
        </p:spPr>
      </p:pic>
      <p:sp>
        <p:nvSpPr>
          <p:cNvPr id="20" name="Text 12"/>
          <p:cNvSpPr txBox="1"/>
          <p:nvPr/>
        </p:nvSpPr>
        <p:spPr>
          <a:xfrm>
            <a:off x="6949440" y="4919472"/>
            <a:ext cx="4663440" cy="457200"/>
          </a:xfrm>
          <a:prstGeom prst="rect">
            <a:avLst/>
          </a:prstGeom>
          <a:noFill/>
          <a:ln/>
        </p:spPr>
        <p:txBody>
          <a:bodyPr wrap="square" lIns="0" tIns="0" rIns="0" bIns="0" rtlCol="0" anchor="ctr"/>
          <a:lstStyle/>
          <a:p>
            <a:pPr indent="0" marL="0">
              <a:buNone/>
            </a:pPr>
            <a:r>
              <a:rPr lang="en-US" sz="1600" b="1" dirty="0">
                <a:solidFill>
                  <a:schemeClr val="tx2"/>
                </a:solidFill>
              </a:rPr>
              <a:t>Uncertainty, only if estimated</a:t>
            </a:r>
            <a:endParaRPr lang="en-US" sz="1600" dirty="0"/>
          </a:p>
        </p:txBody>
      </p:sp>
      <p:sp>
        <p:nvSpPr>
          <p:cNvPr id="21" name="Icon circle"/>
          <p:cNvSpPr/>
          <p:nvPr/>
        </p:nvSpPr>
        <p:spPr>
          <a:xfrm>
            <a:off x="6309360" y="5522976"/>
            <a:ext cx="457200" cy="457200"/>
          </a:xfrm>
          <a:prstGeom prst="ellipse">
            <a:avLst/>
          </a:prstGeom>
          <a:solidFill>
            <a:schemeClr val="accent1"/>
          </a:solidFill>
          <a:ln/>
        </p:spPr>
      </p:sp>
      <p:pic>
        <p:nvPicPr>
          <p:cNvPr id="22" name="Image 5" descr="ExclamationTriangle icon">    </p:cNvPr>
          <p:cNvPicPr>
            <a:picLocks noChangeAspect="1"/>
          </p:cNvPicPr>
          <p:nvPr/>
        </p:nvPicPr>
        <p:blipFill>
          <a:blip r:embed="rId6"/>
          <a:stretch>
            <a:fillRect/>
          </a:stretch>
        </p:blipFill>
        <p:spPr>
          <a:xfrm>
            <a:off x="6423660" y="5637276"/>
            <a:ext cx="228600" cy="228600"/>
          </a:xfrm>
          <a:prstGeom prst="rect">
            <a:avLst/>
          </a:prstGeom>
        </p:spPr>
      </p:pic>
      <p:sp>
        <p:nvSpPr>
          <p:cNvPr id="23" name="Text 14"/>
          <p:cNvSpPr txBox="1"/>
          <p:nvPr/>
        </p:nvSpPr>
        <p:spPr>
          <a:xfrm>
            <a:off x="6949440" y="5522976"/>
            <a:ext cx="4663440" cy="457200"/>
          </a:xfrm>
          <a:prstGeom prst="rect">
            <a:avLst/>
          </a:prstGeom>
          <a:noFill/>
          <a:ln/>
        </p:spPr>
        <p:txBody>
          <a:bodyPr wrap="square" lIns="0" tIns="0" rIns="0" bIns="0" rtlCol="0" anchor="ctr"/>
          <a:lstStyle/>
          <a:p>
            <a:pPr indent="0" marL="0">
              <a:buNone/>
            </a:pPr>
            <a:r>
              <a:rPr lang="en-US" sz="1600" b="1" dirty="0">
                <a:solidFill>
                  <a:schemeClr val="tx2"/>
                </a:solidFill>
              </a:rPr>
              <a:t>Training-data limitations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Application Dashboard and User Journey</a:t>
            </a:r>
            <a:endParaRPr lang="en-US" sz="3400" dirty="0"/>
          </a:p>
        </p:txBody>
      </p:sp>
      <p:sp>
        <p:nvSpPr>
          <p:cNvPr id="4" name="Step 1"/>
          <p:cNvSpPr/>
          <p:nvPr/>
        </p:nvSpPr>
        <p:spPr>
          <a:xfrm>
            <a:off x="548640" y="1371600"/>
            <a:ext cx="411480" cy="411480"/>
          </a:xfrm>
          <a:prstGeom prst="ellipse">
            <a:avLst/>
          </a:prstGeom>
          <a:solidFill>
            <a:schemeClr val="accent1"/>
          </a:solidFill>
          <a:ln/>
        </p:spPr>
      </p:sp>
      <p:sp>
        <p:nvSpPr>
          <p:cNvPr id="5" name="Text 2"/>
          <p:cNvSpPr txBox="1"/>
          <p:nvPr/>
        </p:nvSpPr>
        <p:spPr>
          <a:xfrm>
            <a:off x="548640" y="13716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6" name="Text 3"/>
          <p:cNvSpPr txBox="1"/>
          <p:nvPr/>
        </p:nvSpPr>
        <p:spPr>
          <a:xfrm>
            <a:off x="1143000" y="1371600"/>
            <a:ext cx="3611880" cy="411480"/>
          </a:xfrm>
          <a:prstGeom prst="rect">
            <a:avLst/>
          </a:prstGeom>
          <a:noFill/>
          <a:ln/>
        </p:spPr>
        <p:txBody>
          <a:bodyPr wrap="square" lIns="0" tIns="0" rIns="0" bIns="0" rtlCol="0" anchor="ctr"/>
          <a:lstStyle/>
          <a:p>
            <a:pPr indent="0" marL="0">
              <a:buNone/>
            </a:pPr>
            <a:r>
              <a:rPr lang="en-US" sz="1400" dirty="0">
                <a:solidFill>
                  <a:schemeClr val="tx1"/>
                </a:solidFill>
              </a:rPr>
              <a:t>Select a synthetic patient</a:t>
            </a:r>
            <a:endParaRPr lang="en-US" sz="1400" dirty="0"/>
          </a:p>
        </p:txBody>
      </p:sp>
      <p:sp>
        <p:nvSpPr>
          <p:cNvPr id="7" name="Step 2"/>
          <p:cNvSpPr/>
          <p:nvPr/>
        </p:nvSpPr>
        <p:spPr>
          <a:xfrm>
            <a:off x="548640" y="1938528"/>
            <a:ext cx="411480" cy="411480"/>
          </a:xfrm>
          <a:prstGeom prst="ellipse">
            <a:avLst/>
          </a:prstGeom>
          <a:solidFill>
            <a:schemeClr val="accent1"/>
          </a:solidFill>
          <a:ln/>
        </p:spPr>
      </p:sp>
      <p:sp>
        <p:nvSpPr>
          <p:cNvPr id="8" name="Text 5"/>
          <p:cNvSpPr txBox="1"/>
          <p:nvPr/>
        </p:nvSpPr>
        <p:spPr>
          <a:xfrm>
            <a:off x="548640" y="193852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6"/>
          <p:cNvSpPr txBox="1"/>
          <p:nvPr/>
        </p:nvSpPr>
        <p:spPr>
          <a:xfrm>
            <a:off x="1143000" y="1938528"/>
            <a:ext cx="3611880" cy="411480"/>
          </a:xfrm>
          <a:prstGeom prst="rect">
            <a:avLst/>
          </a:prstGeom>
          <a:noFill/>
          <a:ln/>
        </p:spPr>
        <p:txBody>
          <a:bodyPr wrap="square" lIns="0" tIns="0" rIns="0" bIns="0" rtlCol="0" anchor="ctr"/>
          <a:lstStyle/>
          <a:p>
            <a:pPr indent="0" marL="0">
              <a:buNone/>
            </a:pPr>
            <a:r>
              <a:rPr lang="en-US" sz="1400" dirty="0">
                <a:solidFill>
                  <a:schemeClr val="tx1"/>
                </a:solidFill>
              </a:rPr>
              <a:t>Review historical information</a:t>
            </a:r>
            <a:endParaRPr lang="en-US" sz="1400" dirty="0"/>
          </a:p>
        </p:txBody>
      </p:sp>
      <p:sp>
        <p:nvSpPr>
          <p:cNvPr id="10" name="Step 3"/>
          <p:cNvSpPr/>
          <p:nvPr/>
        </p:nvSpPr>
        <p:spPr>
          <a:xfrm>
            <a:off x="548640" y="2505456"/>
            <a:ext cx="411480" cy="411480"/>
          </a:xfrm>
          <a:prstGeom prst="ellipse">
            <a:avLst/>
          </a:prstGeom>
          <a:solidFill>
            <a:schemeClr val="accent1"/>
          </a:solidFill>
          <a:ln/>
        </p:spPr>
      </p:sp>
      <p:sp>
        <p:nvSpPr>
          <p:cNvPr id="11" name="Text 8"/>
          <p:cNvSpPr txBox="1"/>
          <p:nvPr/>
        </p:nvSpPr>
        <p:spPr>
          <a:xfrm>
            <a:off x="548640" y="250545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2" name="Text 9"/>
          <p:cNvSpPr txBox="1"/>
          <p:nvPr/>
        </p:nvSpPr>
        <p:spPr>
          <a:xfrm>
            <a:off x="1143000" y="2505456"/>
            <a:ext cx="3611880" cy="411480"/>
          </a:xfrm>
          <a:prstGeom prst="rect">
            <a:avLst/>
          </a:prstGeom>
          <a:noFill/>
          <a:ln/>
        </p:spPr>
        <p:txBody>
          <a:bodyPr wrap="square" lIns="0" tIns="0" rIns="0" bIns="0" rtlCol="0" anchor="ctr"/>
          <a:lstStyle/>
          <a:p>
            <a:pPr indent="0" marL="0">
              <a:buNone/>
            </a:pPr>
            <a:r>
              <a:rPr lang="en-US" sz="1400" dirty="0">
                <a:solidFill>
                  <a:schemeClr val="tx1"/>
                </a:solidFill>
              </a:rPr>
              <a:t>Inspect wearable trends</a:t>
            </a:r>
            <a:endParaRPr lang="en-US" sz="1400" dirty="0"/>
          </a:p>
        </p:txBody>
      </p:sp>
      <p:sp>
        <p:nvSpPr>
          <p:cNvPr id="13" name="Step 4"/>
          <p:cNvSpPr/>
          <p:nvPr/>
        </p:nvSpPr>
        <p:spPr>
          <a:xfrm>
            <a:off x="548640" y="3072384"/>
            <a:ext cx="411480" cy="411480"/>
          </a:xfrm>
          <a:prstGeom prst="ellipse">
            <a:avLst/>
          </a:prstGeom>
          <a:solidFill>
            <a:schemeClr val="accent1"/>
          </a:solidFill>
          <a:ln/>
        </p:spPr>
      </p:sp>
      <p:sp>
        <p:nvSpPr>
          <p:cNvPr id="14" name="Text 11"/>
          <p:cNvSpPr txBox="1"/>
          <p:nvPr/>
        </p:nvSpPr>
        <p:spPr>
          <a:xfrm>
            <a:off x="548640" y="307238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5" name="Text 12"/>
          <p:cNvSpPr txBox="1"/>
          <p:nvPr/>
        </p:nvSpPr>
        <p:spPr>
          <a:xfrm>
            <a:off x="1143000" y="3072384"/>
            <a:ext cx="3611880" cy="411480"/>
          </a:xfrm>
          <a:prstGeom prst="rect">
            <a:avLst/>
          </a:prstGeom>
          <a:noFill/>
          <a:ln/>
        </p:spPr>
        <p:txBody>
          <a:bodyPr wrap="square" lIns="0" tIns="0" rIns="0" bIns="0" rtlCol="0" anchor="ctr"/>
          <a:lstStyle/>
          <a:p>
            <a:pPr indent="0" marL="0">
              <a:buNone/>
            </a:pPr>
            <a:r>
              <a:rPr lang="en-US" sz="1400" dirty="0">
                <a:solidFill>
                  <a:schemeClr val="tx1"/>
                </a:solidFill>
              </a:rPr>
              <a:t>View latest twin state</a:t>
            </a:r>
            <a:endParaRPr lang="en-US" sz="1400" dirty="0"/>
          </a:p>
        </p:txBody>
      </p:sp>
      <p:sp>
        <p:nvSpPr>
          <p:cNvPr id="16" name="Step 5"/>
          <p:cNvSpPr/>
          <p:nvPr/>
        </p:nvSpPr>
        <p:spPr>
          <a:xfrm>
            <a:off x="548640" y="3639312"/>
            <a:ext cx="411480" cy="411480"/>
          </a:xfrm>
          <a:prstGeom prst="ellipse">
            <a:avLst/>
          </a:prstGeom>
          <a:solidFill>
            <a:schemeClr val="accent1"/>
          </a:solidFill>
          <a:ln/>
        </p:spPr>
      </p:sp>
      <p:sp>
        <p:nvSpPr>
          <p:cNvPr id="17" name="Text 14"/>
          <p:cNvSpPr txBox="1"/>
          <p:nvPr/>
        </p:nvSpPr>
        <p:spPr>
          <a:xfrm>
            <a:off x="548640" y="3639312"/>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8" name="Text 15"/>
          <p:cNvSpPr txBox="1"/>
          <p:nvPr/>
        </p:nvSpPr>
        <p:spPr>
          <a:xfrm>
            <a:off x="1143000" y="3639312"/>
            <a:ext cx="3611880" cy="411480"/>
          </a:xfrm>
          <a:prstGeom prst="rect">
            <a:avLst/>
          </a:prstGeom>
          <a:noFill/>
          <a:ln/>
        </p:spPr>
        <p:txBody>
          <a:bodyPr wrap="square" lIns="0" tIns="0" rIns="0" bIns="0" rtlCol="0" anchor="ctr"/>
          <a:lstStyle/>
          <a:p>
            <a:pPr indent="0" marL="0">
              <a:buNone/>
            </a:pPr>
            <a:r>
              <a:rPr lang="en-US" sz="1400" dirty="0">
                <a:solidFill>
                  <a:schemeClr val="tx1"/>
                </a:solidFill>
              </a:rPr>
              <a:t>Request or inspect a model estimate</a:t>
            </a:r>
            <a:endParaRPr lang="en-US" sz="1400" dirty="0"/>
          </a:p>
        </p:txBody>
      </p:sp>
      <p:sp>
        <p:nvSpPr>
          <p:cNvPr id="19" name="Step 6"/>
          <p:cNvSpPr/>
          <p:nvPr/>
        </p:nvSpPr>
        <p:spPr>
          <a:xfrm>
            <a:off x="548640" y="4206240"/>
            <a:ext cx="411480" cy="411480"/>
          </a:xfrm>
          <a:prstGeom prst="ellipse">
            <a:avLst/>
          </a:prstGeom>
          <a:solidFill>
            <a:schemeClr val="accent1"/>
          </a:solidFill>
          <a:ln/>
        </p:spPr>
      </p:sp>
      <p:sp>
        <p:nvSpPr>
          <p:cNvPr id="20" name="Text 17"/>
          <p:cNvSpPr txBox="1"/>
          <p:nvPr/>
        </p:nvSpPr>
        <p:spPr>
          <a:xfrm>
            <a:off x="548640" y="42062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1" name="Text 18"/>
          <p:cNvSpPr txBox="1"/>
          <p:nvPr/>
        </p:nvSpPr>
        <p:spPr>
          <a:xfrm>
            <a:off x="1143000" y="4206240"/>
            <a:ext cx="3611880" cy="411480"/>
          </a:xfrm>
          <a:prstGeom prst="rect">
            <a:avLst/>
          </a:prstGeom>
          <a:noFill/>
          <a:ln/>
        </p:spPr>
        <p:txBody>
          <a:bodyPr wrap="square" lIns="0" tIns="0" rIns="0" bIns="0" rtlCol="0" anchor="ctr"/>
          <a:lstStyle/>
          <a:p>
            <a:pPr indent="0" marL="0">
              <a:buNone/>
            </a:pPr>
            <a:r>
              <a:rPr lang="en-US" sz="1400" dirty="0">
                <a:solidFill>
                  <a:schemeClr val="tx1"/>
                </a:solidFill>
              </a:rPr>
              <a:t>Review model explanations</a:t>
            </a:r>
            <a:endParaRPr lang="en-US" sz="1400" dirty="0"/>
          </a:p>
        </p:txBody>
      </p:sp>
      <p:sp>
        <p:nvSpPr>
          <p:cNvPr id="22" name="Step 7"/>
          <p:cNvSpPr/>
          <p:nvPr/>
        </p:nvSpPr>
        <p:spPr>
          <a:xfrm>
            <a:off x="548640" y="4773168"/>
            <a:ext cx="411480" cy="411480"/>
          </a:xfrm>
          <a:prstGeom prst="ellipse">
            <a:avLst/>
          </a:prstGeom>
          <a:solidFill>
            <a:schemeClr val="accent1"/>
          </a:solidFill>
          <a:ln/>
        </p:spPr>
      </p:sp>
      <p:sp>
        <p:nvSpPr>
          <p:cNvPr id="23" name="Text 20"/>
          <p:cNvSpPr txBox="1"/>
          <p:nvPr/>
        </p:nvSpPr>
        <p:spPr>
          <a:xfrm>
            <a:off x="548640" y="477316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7</a:t>
            </a:r>
            <a:endParaRPr lang="en-US" sz="1400" dirty="0"/>
          </a:p>
        </p:txBody>
      </p:sp>
      <p:sp>
        <p:nvSpPr>
          <p:cNvPr id="24" name="Text 21"/>
          <p:cNvSpPr txBox="1"/>
          <p:nvPr/>
        </p:nvSpPr>
        <p:spPr>
          <a:xfrm>
            <a:off x="1143000" y="4773168"/>
            <a:ext cx="3611880" cy="411480"/>
          </a:xfrm>
          <a:prstGeom prst="rect">
            <a:avLst/>
          </a:prstGeom>
          <a:noFill/>
          <a:ln/>
        </p:spPr>
        <p:txBody>
          <a:bodyPr wrap="square" lIns="0" tIns="0" rIns="0" bIns="0" rtlCol="0" anchor="ctr"/>
          <a:lstStyle/>
          <a:p>
            <a:pPr indent="0" marL="0">
              <a:buNone/>
            </a:pPr>
            <a:r>
              <a:rPr lang="en-US" sz="1400" dirty="0">
                <a:solidFill>
                  <a:schemeClr val="tx1"/>
                </a:solidFill>
              </a:rPr>
              <a:t>Run a hypothetical scenario</a:t>
            </a:r>
            <a:endParaRPr lang="en-US" sz="1400" dirty="0"/>
          </a:p>
        </p:txBody>
      </p:sp>
      <p:sp>
        <p:nvSpPr>
          <p:cNvPr id="25" name="Step 8"/>
          <p:cNvSpPr/>
          <p:nvPr/>
        </p:nvSpPr>
        <p:spPr>
          <a:xfrm>
            <a:off x="548640" y="5340096"/>
            <a:ext cx="411480" cy="411480"/>
          </a:xfrm>
          <a:prstGeom prst="ellipse">
            <a:avLst/>
          </a:prstGeom>
          <a:solidFill>
            <a:schemeClr val="accent1"/>
          </a:solidFill>
          <a:ln/>
        </p:spPr>
      </p:sp>
      <p:sp>
        <p:nvSpPr>
          <p:cNvPr id="26" name="Text 23"/>
          <p:cNvSpPr txBox="1"/>
          <p:nvPr/>
        </p:nvSpPr>
        <p:spPr>
          <a:xfrm>
            <a:off x="548640" y="5340096"/>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8</a:t>
            </a:r>
            <a:endParaRPr lang="en-US" sz="1400" dirty="0"/>
          </a:p>
        </p:txBody>
      </p:sp>
      <p:sp>
        <p:nvSpPr>
          <p:cNvPr id="27" name="Text 24"/>
          <p:cNvSpPr txBox="1"/>
          <p:nvPr/>
        </p:nvSpPr>
        <p:spPr>
          <a:xfrm>
            <a:off x="1143000" y="5340096"/>
            <a:ext cx="3611880" cy="411480"/>
          </a:xfrm>
          <a:prstGeom prst="rect">
            <a:avLst/>
          </a:prstGeom>
          <a:noFill/>
          <a:ln/>
        </p:spPr>
        <p:txBody>
          <a:bodyPr wrap="square" lIns="0" tIns="0" rIns="0" bIns="0" rtlCol="0" anchor="ctr"/>
          <a:lstStyle/>
          <a:p>
            <a:pPr indent="0" marL="0">
              <a:buNone/>
            </a:pPr>
            <a:r>
              <a:rPr lang="en-US" sz="1400" dirty="0">
                <a:solidFill>
                  <a:schemeClr val="tx1"/>
                </a:solidFill>
              </a:rPr>
              <a:t>Export a report, if implemented</a:t>
            </a:r>
            <a:endParaRPr lang="en-US" sz="1400" dirty="0"/>
          </a:p>
        </p:txBody>
      </p:sp>
      <p:pic>
        <p:nvPicPr>
          <p:cNvPr id="28" name="Image 0" descr="Screenshot of the CardioTwin AI Executive Overview dashboard">    </p:cNvPr>
          <p:cNvPicPr>
            <a:picLocks noChangeAspect="1"/>
          </p:cNvPicPr>
          <p:nvPr/>
        </p:nvPicPr>
        <p:blipFill>
          <a:blip r:embed="rId1"/>
          <a:stretch>
            <a:fillRect/>
          </a:stretch>
        </p:blipFill>
        <p:spPr>
          <a:xfrm>
            <a:off x="5029200" y="1371600"/>
            <a:ext cx="6583680" cy="3703320"/>
          </a:xfrm>
          <a:prstGeom prst="rect">
            <a:avLst/>
          </a:prstGeom>
        </p:spPr>
      </p:pic>
      <p:sp>
        <p:nvSpPr>
          <p:cNvPr id="29" name="Screenshot border"/>
          <p:cNvSpPr/>
          <p:nvPr/>
        </p:nvSpPr>
        <p:spPr>
          <a:xfrm>
            <a:off x="5029200" y="1371600"/>
            <a:ext cx="6583680" cy="3703320"/>
          </a:xfrm>
          <a:prstGeom prst="rect">
            <a:avLst/>
          </a:prstGeom>
          <a:solidFill>
            <a:srgbClr val="FFFFFF">
              <a:alpha val="0"/>
            </a:srgbClr>
          </a:solidFill>
          <a:ln w="12700">
            <a:solidFill>
              <a:schemeClr val="accent1"/>
            </a:solidFill>
            <a:prstDash val="solid"/>
          </a:ln>
        </p:spPr>
      </p:sp>
      <p:sp>
        <p:nvSpPr>
          <p:cNvPr id="30" name="Text 26">
            <a:hlinkClick r:id="rId2" tooltip=""/>
          </p:cNvPr>
          <p:cNvSpPr txBox="1"/>
          <p:nvPr/>
        </p:nvSpPr>
        <p:spPr>
          <a:xfrm>
            <a:off x="5029200" y="5852160"/>
            <a:ext cx="6583680" cy="320040"/>
          </a:xfrm>
          <a:prstGeom prst="rect">
            <a:avLst/>
          </a:prstGeom>
          <a:noFill/>
          <a:ln/>
        </p:spPr>
        <p:txBody>
          <a:bodyPr wrap="square" lIns="0" tIns="0" rIns="0" bIns="0" rtlCol="0" anchor="t"/>
          <a:lstStyle/>
          <a:p>
            <a:pPr indent="0" marL="0">
              <a:buNone/>
            </a:pPr>
            <a:r>
              <a:rPr lang="en-US" sz="140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Live demo: cardio-twin-ai-rose.vercel.app</a:t>
            </a:r>
            <a:endParaRPr lang="en-US" sz="1400" dirty="0"/>
          </a:p>
        </p:txBody>
      </p:sp>
      <p:sp>
        <p:nvSpPr>
          <p:cNvPr id="31" name="Text 27"/>
          <p:cNvSpPr txBox="1"/>
          <p:nvPr/>
        </p:nvSpPr>
        <p:spPr>
          <a:xfrm>
            <a:off x="5029200" y="5166360"/>
            <a:ext cx="6583680" cy="640080"/>
          </a:xfrm>
          <a:prstGeom prst="rect">
            <a:avLst/>
          </a:prstGeom>
          <a:noFill/>
          <a:ln/>
        </p:spPr>
        <p:txBody>
          <a:bodyPr wrap="square" lIns="0" tIns="0" rIns="0" bIns="0" rtlCol="0" anchor="t"/>
          <a:lstStyle/>
          <a:p>
            <a:pPr indent="0" marL="0">
              <a:buNone/>
            </a:pPr>
            <a:r>
              <a:rPr lang="en-US" sz="1200" i="1" dirty="0">
                <a:solidFill>
                  <a:schemeClr val="accent6"/>
                </a:solidFill>
              </a:rPr>
              <a:t>Figure 12. Executive Overview in the live prototype (synthetic subject CT-1001). Steps 1-5 are visible here; steps 6-8 use the Explain, Twin Simulator and Reports pages.</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Advanced Features and Accessibility</a:t>
            </a:r>
            <a:endParaRPr lang="en-US" sz="3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a:tblGrid>
                <a:gridCol w="4937760"/>
                <a:gridCol w="1828800"/>
                <a:gridCol w="4297680"/>
              </a:tblGrid>
              <a:tr h="457200">
                <a:tc>
                  <a:txBody>
                    <a:bodyPr/>
                    <a:lstStyle/>
                    <a:p>
                      <a:pPr indent="0" marL="0">
                        <a:buNone/>
                      </a:pPr>
                      <a:r>
                        <a:rPr lang="en-US" sz="1400" b="1" dirty="0">
                          <a:solidFill>
                            <a:srgbClr val="FFFFFF"/>
                          </a:solidFill>
                        </a:rPr>
                        <a:t>Feature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Status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Test evidence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r>
              <a:tr h="457200">
                <a:tc>
                  <a:txBody>
                    <a:bodyPr/>
                    <a:lstStyle/>
                    <a:p>
                      <a:pPr indent="0" marL="0">
                        <a:buNone/>
                      </a:pPr>
                      <a:r>
                        <a:rPr lang="en-US" sz="1400" dirty="0">
                          <a:solidFill>
                            <a:srgbClr val="14213D"/>
                          </a:solidFill>
                        </a:rPr>
                        <a:t>Multilingual user interface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Language selector, Fig. 12</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Light, dark and system themes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Theme toggle, Fig. 12</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Expandable, collapsible, hidden sidebar</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Sidebar controls, Fig. 12</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Responsive layout, keyboard access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64748B"/>
                          </a:solidFill>
                        </a:rPr>
                        <a:t>VERIFY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Add test (command palette seen)</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Simulated real-time wearable stream</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Stream button, PPG/ECG, Fig. 12</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What-if simulator</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64748B"/>
                          </a:solidFill>
                        </a:rPr>
                        <a:t>VERIFY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Twin Simulator page: add screenshot</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Data-quality dashboard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15803D"/>
                          </a:solidFill>
                        </a:rPr>
                        <a:t>IMPLEMENTED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Data Quality page, Fig. 12</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457200">
                <a:tc>
                  <a:txBody>
                    <a:bodyPr/>
                    <a:lstStyle/>
                    <a:p>
                      <a:pPr indent="0" marL="0">
                        <a:buNone/>
                      </a:pPr>
                      <a:r>
                        <a:rPr lang="en-US" sz="1400" dirty="0">
                          <a:solidFill>
                            <a:srgbClr val="14213D"/>
                          </a:solidFill>
                        </a:rPr>
                        <a:t>PDF, CSV and JSON exports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b="1" dirty="0">
                          <a:solidFill>
                            <a:srgbClr val="64748B"/>
                          </a:solidFill>
                        </a:rPr>
                        <a:t>VERIFY</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Reports and Exports: add test</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5" name="Text 1"/>
          <p:cNvSpPr txBox="1"/>
          <p:nvPr/>
        </p:nvSpPr>
        <p:spPr>
          <a:xfrm>
            <a:off x="548640" y="5669280"/>
            <a:ext cx="11064240" cy="320040"/>
          </a:xfrm>
          <a:prstGeom prst="rect">
            <a:avLst/>
          </a:prstGeom>
          <a:noFill/>
          <a:ln/>
        </p:spPr>
        <p:txBody>
          <a:bodyPr wrap="square" lIns="0" tIns="0" rIns="0" bIns="0" rtlCol="0" anchor="t"/>
          <a:lstStyle/>
          <a:p>
            <a:pPr indent="0" marL="0">
              <a:buNone/>
            </a:pPr>
            <a:r>
              <a:rPr lang="en-US" sz="1400" b="1" dirty="0">
                <a:solidFill>
                  <a:schemeClr val="tx2"/>
                </a:solidFill>
              </a:rPr>
              <a:t>A feature is claimed only after it has been tested.</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Validation, Security, and Responsible Use</a:t>
            </a:r>
            <a:endParaRPr lang="en-US" sz="3400" dirty="0"/>
          </a:p>
        </p:txBody>
      </p:sp>
      <p:sp>
        <p:nvSpPr>
          <p:cNvPr id="4" name="Card"/>
          <p:cNvSpPr/>
          <p:nvPr/>
        </p:nvSpPr>
        <p:spPr>
          <a:xfrm>
            <a:off x="548640" y="1417320"/>
            <a:ext cx="5394960" cy="3566160"/>
          </a:xfrm>
          <a:prstGeom prst="roundRect">
            <a:avLst>
              <a:gd name="adj" fmla="val 2564"/>
            </a:avLst>
          </a:prstGeom>
          <a:solidFill>
            <a:schemeClr val="bg2"/>
          </a:solidFill>
          <a:ln/>
        </p:spPr>
      </p:sp>
      <p:sp>
        <p:nvSpPr>
          <p:cNvPr id="5" name="Icon circle"/>
          <p:cNvSpPr/>
          <p:nvPr/>
        </p:nvSpPr>
        <p:spPr>
          <a:xfrm>
            <a:off x="822960" y="1600200"/>
            <a:ext cx="548640" cy="548640"/>
          </a:xfrm>
          <a:prstGeom prst="ellipse">
            <a:avLst/>
          </a:prstGeom>
          <a:solidFill>
            <a:schemeClr val="accent5"/>
          </a:solidFill>
          <a:ln/>
        </p:spPr>
      </p:sp>
      <p:pic>
        <p:nvPicPr>
          <p:cNvPr id="6" name="Image 0" descr="ShieldAlt icon">    </p:cNvPr>
          <p:cNvPicPr>
            <a:picLocks noChangeAspect="1"/>
          </p:cNvPicPr>
          <p:nvPr/>
        </p:nvPicPr>
        <p:blipFill>
          <a:blip r:embed="rId1"/>
          <a:stretch>
            <a:fillRect/>
          </a:stretch>
        </p:blipFill>
        <p:spPr>
          <a:xfrm>
            <a:off x="960120" y="1737360"/>
            <a:ext cx="274320" cy="274320"/>
          </a:xfrm>
          <a:prstGeom prst="rect">
            <a:avLst/>
          </a:prstGeom>
        </p:spPr>
      </p:pic>
      <p:sp>
        <p:nvSpPr>
          <p:cNvPr id="7" name="Text 3"/>
          <p:cNvSpPr txBox="1"/>
          <p:nvPr/>
        </p:nvSpPr>
        <p:spPr>
          <a:xfrm>
            <a:off x="1554480" y="160020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Safeguards</a:t>
            </a:r>
            <a:endParaRPr lang="en-US" sz="2000" dirty="0"/>
          </a:p>
        </p:txBody>
      </p:sp>
      <p:sp>
        <p:nvSpPr>
          <p:cNvPr id="8" name="Text 4"/>
          <p:cNvSpPr txBox="1"/>
          <p:nvPr/>
        </p:nvSpPr>
        <p:spPr>
          <a:xfrm>
            <a:off x="822960" y="2331720"/>
            <a:ext cx="48463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Synthetic or licensed anonymized data only</a:t>
            </a:r>
            <a:endParaRPr lang="en-US" sz="1400" dirty="0"/>
          </a:p>
          <a:p>
            <a:pPr marL="342900" indent="-342900">
              <a:spcAft>
                <a:spcPts val="600"/>
              </a:spcAft>
              <a:buSzPct val="100000"/>
              <a:buChar char="•"/>
            </a:pPr>
            <a:r>
              <a:rPr lang="en-US" sz="1400" dirty="0">
                <a:solidFill>
                  <a:schemeClr val="tx1"/>
                </a:solidFill>
              </a:rPr>
              <a:t>Patient and time leakage prevention</a:t>
            </a:r>
            <a:endParaRPr lang="en-US" sz="1400" dirty="0"/>
          </a:p>
          <a:p>
            <a:pPr marL="342900" indent="-342900">
              <a:spcAft>
                <a:spcPts val="600"/>
              </a:spcAft>
              <a:buSzPct val="100000"/>
              <a:buChar char="•"/>
            </a:pPr>
            <a:r>
              <a:rPr lang="en-US" sz="1400" dirty="0">
                <a:solidFill>
                  <a:schemeClr val="tx1"/>
                </a:solidFill>
              </a:rPr>
              <a:t>Input validation, missing-data handling</a:t>
            </a:r>
            <a:endParaRPr lang="en-US" sz="1400" dirty="0"/>
          </a:p>
          <a:p>
            <a:pPr marL="342900" indent="-342900">
              <a:spcAft>
                <a:spcPts val="600"/>
              </a:spcAft>
              <a:buSzPct val="100000"/>
              <a:buChar char="•"/>
            </a:pPr>
            <a:r>
              <a:rPr lang="en-US" sz="1400" dirty="0">
                <a:solidFill>
                  <a:schemeClr val="tx1"/>
                </a:solidFill>
              </a:rPr>
              <a:t>Authentication where implemented</a:t>
            </a:r>
            <a:endParaRPr lang="en-US" sz="1400" dirty="0"/>
          </a:p>
          <a:p>
            <a:pPr marL="342900" indent="-342900">
              <a:spcAft>
                <a:spcPts val="600"/>
              </a:spcAft>
              <a:buSzPct val="100000"/>
              <a:buChar char="•"/>
            </a:pPr>
            <a:r>
              <a:rPr lang="en-US" sz="1400" dirty="0">
                <a:solidFill>
                  <a:schemeClr val="tx1"/>
                </a:solidFill>
              </a:rPr>
              <a:t>Secrets in environment variables</a:t>
            </a:r>
            <a:endParaRPr lang="en-US" sz="1400" dirty="0"/>
          </a:p>
        </p:txBody>
      </p:sp>
      <p:sp>
        <p:nvSpPr>
          <p:cNvPr id="9" name="Card"/>
          <p:cNvSpPr/>
          <p:nvPr/>
        </p:nvSpPr>
        <p:spPr>
          <a:xfrm>
            <a:off x="6217920" y="1417320"/>
            <a:ext cx="5394960" cy="3566160"/>
          </a:xfrm>
          <a:prstGeom prst="roundRect">
            <a:avLst>
              <a:gd name="adj" fmla="val 2564"/>
            </a:avLst>
          </a:prstGeom>
          <a:solidFill>
            <a:schemeClr val="bg2"/>
          </a:solidFill>
          <a:ln/>
        </p:spPr>
      </p:sp>
      <p:sp>
        <p:nvSpPr>
          <p:cNvPr id="10" name="Icon circle"/>
          <p:cNvSpPr/>
          <p:nvPr/>
        </p:nvSpPr>
        <p:spPr>
          <a:xfrm>
            <a:off x="6492240" y="1600200"/>
            <a:ext cx="548640" cy="548640"/>
          </a:xfrm>
          <a:prstGeom prst="ellipse">
            <a:avLst/>
          </a:prstGeom>
          <a:solidFill>
            <a:schemeClr val="accent4"/>
          </a:solidFill>
          <a:ln/>
        </p:spPr>
      </p:sp>
      <p:pic>
        <p:nvPicPr>
          <p:cNvPr id="11" name="Image 1" descr="ExclamationTriangle icon">    </p:cNvPr>
          <p:cNvPicPr>
            <a:picLocks noChangeAspect="1"/>
          </p:cNvPicPr>
          <p:nvPr/>
        </p:nvPicPr>
        <p:blipFill>
          <a:blip r:embed="rId2"/>
          <a:stretch>
            <a:fillRect/>
          </a:stretch>
        </p:blipFill>
        <p:spPr>
          <a:xfrm>
            <a:off x="6629400" y="1737360"/>
            <a:ext cx="274320" cy="274320"/>
          </a:xfrm>
          <a:prstGeom prst="rect">
            <a:avLst/>
          </a:prstGeom>
        </p:spPr>
      </p:pic>
      <p:sp>
        <p:nvSpPr>
          <p:cNvPr id="12" name="Text 7"/>
          <p:cNvSpPr txBox="1"/>
          <p:nvPr/>
        </p:nvSpPr>
        <p:spPr>
          <a:xfrm>
            <a:off x="7223760" y="1600200"/>
            <a:ext cx="4114800" cy="548640"/>
          </a:xfrm>
          <a:prstGeom prst="rect">
            <a:avLst/>
          </a:prstGeom>
          <a:noFill/>
          <a:ln/>
        </p:spPr>
        <p:txBody>
          <a:bodyPr wrap="square" lIns="0" tIns="0" rIns="0" bIns="0" rtlCol="0" anchor="ctr"/>
          <a:lstStyle/>
          <a:p>
            <a:pPr indent="0" marL="0">
              <a:buNone/>
            </a:pPr>
            <a:r>
              <a:rPr lang="en-US" sz="2000" b="1" dirty="0">
                <a:solidFill>
                  <a:schemeClr val="tx2"/>
                </a:solidFill>
              </a:rPr>
              <a:t>Not claimed</a:t>
            </a:r>
            <a:endParaRPr lang="en-US" sz="2000" dirty="0"/>
          </a:p>
        </p:txBody>
      </p:sp>
      <p:sp>
        <p:nvSpPr>
          <p:cNvPr id="13" name="Text 8"/>
          <p:cNvSpPr txBox="1"/>
          <p:nvPr/>
        </p:nvSpPr>
        <p:spPr>
          <a:xfrm>
            <a:off x="6492240" y="2331720"/>
            <a:ext cx="4846320" cy="25603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 clinical validation</a:t>
            </a:r>
            <a:endParaRPr lang="en-US" sz="1400" dirty="0"/>
          </a:p>
          <a:p>
            <a:pPr marL="342900" indent="-342900">
              <a:spcAft>
                <a:spcPts val="600"/>
              </a:spcAft>
              <a:buSzPct val="100000"/>
              <a:buChar char="•"/>
            </a:pPr>
            <a:r>
              <a:rPr lang="en-US" sz="1400" dirty="0">
                <a:solidFill>
                  <a:schemeClr val="tx1"/>
                </a:solidFill>
              </a:rPr>
              <a:t>No diagnosis or treatment use</a:t>
            </a:r>
            <a:endParaRPr lang="en-US" sz="1400" dirty="0"/>
          </a:p>
          <a:p>
            <a:pPr marL="342900" indent="-342900">
              <a:spcAft>
                <a:spcPts val="600"/>
              </a:spcAft>
              <a:buSzPct val="100000"/>
              <a:buChar char="•"/>
            </a:pPr>
            <a:r>
              <a:rPr lang="en-US" sz="1400" dirty="0">
                <a:solidFill>
                  <a:schemeClr val="tx1"/>
                </a:solidFill>
              </a:rPr>
              <a:t>Synthetic-data scores do not transfer to patients</a:t>
            </a:r>
            <a:endParaRPr lang="en-US" sz="1400" dirty="0"/>
          </a:p>
          <a:p>
            <a:pPr marL="342900" indent="-342900">
              <a:spcAft>
                <a:spcPts val="600"/>
              </a:spcAft>
              <a:buSzPct val="100000"/>
              <a:buChar char="•"/>
            </a:pPr>
            <a:r>
              <a:rPr lang="en-US" sz="1400" dirty="0">
                <a:solidFill>
                  <a:schemeClr val="tx1"/>
                </a:solidFill>
              </a:rPr>
              <a:t>Not a validated physiological replica</a:t>
            </a:r>
            <a:endParaRPr lang="en-US" sz="1400" dirty="0"/>
          </a:p>
        </p:txBody>
      </p:sp>
      <p:sp>
        <p:nvSpPr>
          <p:cNvPr id="14" name="Card"/>
          <p:cNvSpPr/>
          <p:nvPr/>
        </p:nvSpPr>
        <p:spPr>
          <a:xfrm>
            <a:off x="548640" y="5257800"/>
            <a:ext cx="11064240" cy="822960"/>
          </a:xfrm>
          <a:prstGeom prst="roundRect">
            <a:avLst>
              <a:gd name="adj" fmla="val 11111"/>
            </a:avLst>
          </a:prstGeom>
          <a:solidFill>
            <a:schemeClr val="tx2"/>
          </a:solidFill>
          <a:ln/>
        </p:spPr>
      </p:sp>
      <p:sp>
        <p:nvSpPr>
          <p:cNvPr id="15" name="Text 10"/>
          <p:cNvSpPr txBox="1"/>
          <p:nvPr/>
        </p:nvSpPr>
        <p:spPr>
          <a:xfrm>
            <a:off x="822960" y="5257800"/>
            <a:ext cx="10515600" cy="822960"/>
          </a:xfrm>
          <a:prstGeom prst="rect">
            <a:avLst/>
          </a:prstGeom>
          <a:noFill/>
          <a:ln/>
        </p:spPr>
        <p:txBody>
          <a:bodyPr wrap="square" lIns="0" tIns="0" rIns="0" bIns="0" rtlCol="0" anchor="ctr"/>
          <a:lstStyle/>
          <a:p>
            <a:pPr indent="0" marL="0">
              <a:buNone/>
            </a:pPr>
            <a:r>
              <a:rPr lang="en-US" sz="1400" b="1" dirty="0">
                <a:solidFill>
                  <a:schemeClr val="bg1"/>
                </a:solidFill>
              </a:rPr>
              <a:t>Future clinical evaluation needs clinical expertise, ethics governance, real-data access and independent validation.</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Outcomes, Limitations, and Roadmap</a:t>
            </a:r>
            <a:endParaRPr lang="en-US" sz="3400" dirty="0"/>
          </a:p>
        </p:txBody>
      </p:sp>
      <p:sp>
        <p:nvSpPr>
          <p:cNvPr id="4" name="Card"/>
          <p:cNvSpPr/>
          <p:nvPr/>
        </p:nvSpPr>
        <p:spPr>
          <a:xfrm>
            <a:off x="548640" y="1417320"/>
            <a:ext cx="3566160" cy="4480560"/>
          </a:xfrm>
          <a:prstGeom prst="roundRect">
            <a:avLst>
              <a:gd name="adj" fmla="val 2564"/>
            </a:avLst>
          </a:prstGeom>
          <a:solidFill>
            <a:schemeClr val="bg2"/>
          </a:solidFill>
          <a:ln/>
        </p:spPr>
      </p:sp>
      <p:sp>
        <p:nvSpPr>
          <p:cNvPr id="5" name="Icon circle"/>
          <p:cNvSpPr/>
          <p:nvPr/>
        </p:nvSpPr>
        <p:spPr>
          <a:xfrm>
            <a:off x="777240" y="1600200"/>
            <a:ext cx="548640" cy="548640"/>
          </a:xfrm>
          <a:prstGeom prst="ellipse">
            <a:avLst/>
          </a:prstGeom>
          <a:solidFill>
            <a:schemeClr val="accent5"/>
          </a:solidFill>
          <a:ln/>
        </p:spPr>
      </p:sp>
      <p:pic>
        <p:nvPicPr>
          <p:cNvPr id="6" name="Image 0" descr="Check icon">    </p:cNvPr>
          <p:cNvPicPr>
            <a:picLocks noChangeAspect="1"/>
          </p:cNvPicPr>
          <p:nvPr/>
        </p:nvPicPr>
        <p:blipFill>
          <a:blip r:embed="rId1"/>
          <a:stretch>
            <a:fillRect/>
          </a:stretch>
        </p:blipFill>
        <p:spPr>
          <a:xfrm>
            <a:off x="914400" y="1737360"/>
            <a:ext cx="274320" cy="274320"/>
          </a:xfrm>
          <a:prstGeom prst="rect">
            <a:avLst/>
          </a:prstGeom>
        </p:spPr>
      </p:pic>
      <p:sp>
        <p:nvSpPr>
          <p:cNvPr id="7" name="Text 3"/>
          <p:cNvSpPr txBox="1"/>
          <p:nvPr/>
        </p:nvSpPr>
        <p:spPr>
          <a:xfrm>
            <a:off x="1508760" y="1600200"/>
            <a:ext cx="2468880" cy="548640"/>
          </a:xfrm>
          <a:prstGeom prst="rect">
            <a:avLst/>
          </a:prstGeom>
          <a:noFill/>
          <a:ln/>
        </p:spPr>
        <p:txBody>
          <a:bodyPr wrap="square" lIns="0" tIns="0" rIns="0" bIns="0" rtlCol="0" anchor="ctr"/>
          <a:lstStyle/>
          <a:p>
            <a:pPr indent="0" marL="0">
              <a:buNone/>
            </a:pPr>
            <a:r>
              <a:rPr lang="en-US" sz="2000" b="1" dirty="0">
                <a:solidFill>
                  <a:schemeClr val="tx2"/>
                </a:solidFill>
              </a:rPr>
              <a:t>Completed</a:t>
            </a:r>
            <a:endParaRPr lang="en-US" sz="2000" dirty="0"/>
          </a:p>
        </p:txBody>
      </p:sp>
      <p:sp>
        <p:nvSpPr>
          <p:cNvPr id="8" name="Text 4"/>
          <p:cNvSpPr txBox="1"/>
          <p:nvPr/>
        </p:nvSpPr>
        <p:spPr>
          <a:xfrm>
            <a:off x="777240" y="2423160"/>
            <a:ext cx="31089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Live dashboard deployed on Vercel</a:t>
            </a:r>
            <a:endParaRPr lang="en-US" sz="1400" dirty="0"/>
          </a:p>
          <a:p>
            <a:pPr marL="342900" indent="-342900">
              <a:spcAft>
                <a:spcPts val="600"/>
              </a:spcAft>
              <a:buSzPct val="100000"/>
              <a:buChar char="•"/>
            </a:pPr>
            <a:r>
              <a:rPr lang="en-US" sz="1400" dirty="0">
                <a:solidFill>
                  <a:schemeClr val="tx1"/>
                </a:solidFill>
              </a:rPr>
              <a:t>20 synthetic patient twins</a:t>
            </a:r>
            <a:endParaRPr lang="en-US" sz="1400" dirty="0"/>
          </a:p>
          <a:p>
            <a:pPr marL="342900" indent="-342900">
              <a:spcAft>
                <a:spcPts val="600"/>
              </a:spcAft>
              <a:buSzPct val="100000"/>
              <a:buChar char="•"/>
            </a:pPr>
            <a:r>
              <a:rPr lang="en-US" sz="1400" dirty="0">
                <a:solidFill>
                  <a:schemeClr val="tx1"/>
                </a:solidFill>
              </a:rPr>
              <a:t>Simulated PPG/ECG stream and controls</a:t>
            </a:r>
            <a:endParaRPr lang="en-US" sz="1400" dirty="0"/>
          </a:p>
          <a:p>
            <a:pPr marL="342900" indent="-342900">
              <a:spcAft>
                <a:spcPts val="600"/>
              </a:spcAft>
              <a:buSzPct val="100000"/>
              <a:buChar char="•"/>
            </a:pPr>
            <a:r>
              <a:rPr lang="en-US" sz="1400" dirty="0">
                <a:solidFill>
                  <a:schemeClr val="tx1"/>
                </a:solidFill>
              </a:rPr>
              <a:t>Measured results: pending (slide 10)</a:t>
            </a:r>
            <a:endParaRPr lang="en-US" sz="1400" dirty="0"/>
          </a:p>
        </p:txBody>
      </p:sp>
      <p:sp>
        <p:nvSpPr>
          <p:cNvPr id="9" name="Card"/>
          <p:cNvSpPr/>
          <p:nvPr/>
        </p:nvSpPr>
        <p:spPr>
          <a:xfrm>
            <a:off x="4297680" y="1417320"/>
            <a:ext cx="3566160" cy="4480560"/>
          </a:xfrm>
          <a:prstGeom prst="roundRect">
            <a:avLst>
              <a:gd name="adj" fmla="val 2564"/>
            </a:avLst>
          </a:prstGeom>
          <a:solidFill>
            <a:schemeClr val="bg2"/>
          </a:solidFill>
          <a:ln/>
        </p:spPr>
      </p:sp>
      <p:sp>
        <p:nvSpPr>
          <p:cNvPr id="10" name="Icon circle"/>
          <p:cNvSpPr/>
          <p:nvPr/>
        </p:nvSpPr>
        <p:spPr>
          <a:xfrm>
            <a:off x="4526280" y="1600200"/>
            <a:ext cx="548640" cy="548640"/>
          </a:xfrm>
          <a:prstGeom prst="ellipse">
            <a:avLst/>
          </a:prstGeom>
          <a:solidFill>
            <a:schemeClr val="accent4"/>
          </a:solidFill>
          <a:ln/>
        </p:spPr>
      </p:sp>
      <p:pic>
        <p:nvPicPr>
          <p:cNvPr id="11" name="Image 1" descr="ExclamationTriangle icon">    </p:cNvPr>
          <p:cNvPicPr>
            <a:picLocks noChangeAspect="1"/>
          </p:cNvPicPr>
          <p:nvPr/>
        </p:nvPicPr>
        <p:blipFill>
          <a:blip r:embed="rId2"/>
          <a:stretch>
            <a:fillRect/>
          </a:stretch>
        </p:blipFill>
        <p:spPr>
          <a:xfrm>
            <a:off x="4663440" y="1737360"/>
            <a:ext cx="274320" cy="274320"/>
          </a:xfrm>
          <a:prstGeom prst="rect">
            <a:avLst/>
          </a:prstGeom>
        </p:spPr>
      </p:pic>
      <p:sp>
        <p:nvSpPr>
          <p:cNvPr id="12" name="Text 7"/>
          <p:cNvSpPr txBox="1"/>
          <p:nvPr/>
        </p:nvSpPr>
        <p:spPr>
          <a:xfrm>
            <a:off x="5257800" y="1600200"/>
            <a:ext cx="2468880" cy="548640"/>
          </a:xfrm>
          <a:prstGeom prst="rect">
            <a:avLst/>
          </a:prstGeom>
          <a:noFill/>
          <a:ln/>
        </p:spPr>
        <p:txBody>
          <a:bodyPr wrap="square" lIns="0" tIns="0" rIns="0" bIns="0" rtlCol="0" anchor="ctr"/>
          <a:lstStyle/>
          <a:p>
            <a:pPr indent="0" marL="0">
              <a:buNone/>
            </a:pPr>
            <a:r>
              <a:rPr lang="en-US" sz="2000" b="1" dirty="0">
                <a:solidFill>
                  <a:schemeClr val="tx2"/>
                </a:solidFill>
              </a:rPr>
              <a:t>Limitations</a:t>
            </a:r>
            <a:endParaRPr lang="en-US" sz="2000" dirty="0"/>
          </a:p>
        </p:txBody>
      </p:sp>
      <p:sp>
        <p:nvSpPr>
          <p:cNvPr id="13" name="Text 8"/>
          <p:cNvSpPr txBox="1"/>
          <p:nvPr/>
        </p:nvSpPr>
        <p:spPr>
          <a:xfrm>
            <a:off x="4526280" y="2423160"/>
            <a:ext cx="31089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Synthetic or licensed data only</a:t>
            </a:r>
            <a:endParaRPr lang="en-US" sz="1400" dirty="0"/>
          </a:p>
          <a:p>
            <a:pPr marL="342900" indent="-342900">
              <a:spcAft>
                <a:spcPts val="600"/>
              </a:spcAft>
              <a:buSzPct val="100000"/>
              <a:buChar char="•"/>
            </a:pPr>
            <a:r>
              <a:rPr lang="en-US" sz="1400" dirty="0">
                <a:solidFill>
                  <a:schemeClr val="tx1"/>
                </a:solidFill>
              </a:rPr>
              <a:t>No clinical validation</a:t>
            </a:r>
            <a:endParaRPr lang="en-US" sz="1400" dirty="0"/>
          </a:p>
          <a:p>
            <a:pPr marL="342900" indent="-342900">
              <a:spcAft>
                <a:spcPts val="600"/>
              </a:spcAft>
              <a:buSzPct val="100000"/>
              <a:buChar char="•"/>
            </a:pPr>
            <a:r>
              <a:rPr lang="en-US" sz="1400" dirty="0">
                <a:solidFill>
                  <a:schemeClr val="tx1"/>
                </a:solidFill>
              </a:rPr>
              <a:t>Prototype scale, single participant</a:t>
            </a:r>
            <a:endParaRPr lang="en-US" sz="1400" dirty="0"/>
          </a:p>
          <a:p>
            <a:pPr marL="342900" indent="-342900">
              <a:spcAft>
                <a:spcPts val="600"/>
              </a:spcAft>
              <a:buSzPct val="100000"/>
              <a:buChar char="•"/>
            </a:pPr>
            <a:r>
              <a:rPr lang="en-US" sz="1400" dirty="0">
                <a:solidFill>
                  <a:schemeClr val="tx1"/>
                </a:solidFill>
              </a:rPr>
              <a:t>No external validation yet</a:t>
            </a:r>
            <a:endParaRPr lang="en-US" sz="1400" dirty="0"/>
          </a:p>
        </p:txBody>
      </p:sp>
      <p:sp>
        <p:nvSpPr>
          <p:cNvPr id="14" name="Card"/>
          <p:cNvSpPr/>
          <p:nvPr/>
        </p:nvSpPr>
        <p:spPr>
          <a:xfrm>
            <a:off x="8046720" y="1417320"/>
            <a:ext cx="3566160" cy="4480560"/>
          </a:xfrm>
          <a:prstGeom prst="roundRect">
            <a:avLst>
              <a:gd name="adj" fmla="val 2564"/>
            </a:avLst>
          </a:prstGeom>
          <a:solidFill>
            <a:schemeClr val="bg2"/>
          </a:solidFill>
          <a:ln/>
        </p:spPr>
      </p:sp>
      <p:sp>
        <p:nvSpPr>
          <p:cNvPr id="15" name="Icon circle"/>
          <p:cNvSpPr/>
          <p:nvPr/>
        </p:nvSpPr>
        <p:spPr>
          <a:xfrm>
            <a:off x="8275320" y="1600200"/>
            <a:ext cx="548640" cy="548640"/>
          </a:xfrm>
          <a:prstGeom prst="ellipse">
            <a:avLst/>
          </a:prstGeom>
          <a:solidFill>
            <a:schemeClr val="accent2"/>
          </a:solidFill>
          <a:ln/>
        </p:spPr>
      </p:sp>
      <p:pic>
        <p:nvPicPr>
          <p:cNvPr id="16" name="Image 2" descr="ChartLine icon">    </p:cNvPr>
          <p:cNvPicPr>
            <a:picLocks noChangeAspect="1"/>
          </p:cNvPicPr>
          <p:nvPr/>
        </p:nvPicPr>
        <p:blipFill>
          <a:blip r:embed="rId3"/>
          <a:stretch>
            <a:fillRect/>
          </a:stretch>
        </p:blipFill>
        <p:spPr>
          <a:xfrm>
            <a:off x="8412480" y="1737360"/>
            <a:ext cx="274320" cy="274320"/>
          </a:xfrm>
          <a:prstGeom prst="rect">
            <a:avLst/>
          </a:prstGeom>
        </p:spPr>
      </p:pic>
      <p:sp>
        <p:nvSpPr>
          <p:cNvPr id="17" name="Text 11"/>
          <p:cNvSpPr txBox="1"/>
          <p:nvPr/>
        </p:nvSpPr>
        <p:spPr>
          <a:xfrm>
            <a:off x="9006840" y="1600200"/>
            <a:ext cx="2468880" cy="548640"/>
          </a:xfrm>
          <a:prstGeom prst="rect">
            <a:avLst/>
          </a:prstGeom>
          <a:noFill/>
          <a:ln/>
        </p:spPr>
        <p:txBody>
          <a:bodyPr wrap="square" lIns="0" tIns="0" rIns="0" bIns="0" rtlCol="0" anchor="ctr"/>
          <a:lstStyle/>
          <a:p>
            <a:pPr indent="0" marL="0">
              <a:buNone/>
            </a:pPr>
            <a:r>
              <a:rPr lang="en-US" sz="2000" b="1" dirty="0">
                <a:solidFill>
                  <a:schemeClr val="tx2"/>
                </a:solidFill>
              </a:rPr>
              <a:t>Next steps</a:t>
            </a:r>
            <a:endParaRPr lang="en-US" sz="2000" dirty="0"/>
          </a:p>
        </p:txBody>
      </p:sp>
      <p:sp>
        <p:nvSpPr>
          <p:cNvPr id="18" name="Text 12"/>
          <p:cNvSpPr txBox="1"/>
          <p:nvPr/>
        </p:nvSpPr>
        <p:spPr>
          <a:xfrm>
            <a:off x="8275320" y="2423160"/>
            <a:ext cx="3108960" cy="32918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External validation</a:t>
            </a:r>
            <a:endParaRPr lang="en-US" sz="1400" dirty="0"/>
          </a:p>
          <a:p>
            <a:pPr marL="342900" indent="-342900">
              <a:spcAft>
                <a:spcPts val="600"/>
              </a:spcAft>
              <a:buSzPct val="100000"/>
              <a:buChar char="•"/>
            </a:pPr>
            <a:r>
              <a:rPr lang="en-US" sz="1400" dirty="0">
                <a:solidFill>
                  <a:schemeClr val="tx1"/>
                </a:solidFill>
              </a:rPr>
              <a:t>Better calibration</a:t>
            </a:r>
            <a:endParaRPr lang="en-US" sz="1400" dirty="0"/>
          </a:p>
          <a:p>
            <a:pPr marL="342900" indent="-342900">
              <a:spcAft>
                <a:spcPts val="600"/>
              </a:spcAft>
              <a:buSzPct val="100000"/>
              <a:buChar char="•"/>
            </a:pPr>
            <a:r>
              <a:rPr lang="en-US" sz="1400" dirty="0">
                <a:solidFill>
                  <a:schemeClr val="tx1"/>
                </a:solidFill>
              </a:rPr>
              <a:t>Additional data modalities</a:t>
            </a:r>
            <a:endParaRPr lang="en-US" sz="1400" dirty="0"/>
          </a:p>
          <a:p>
            <a:pPr marL="342900" indent="-342900">
              <a:spcAft>
                <a:spcPts val="600"/>
              </a:spcAft>
              <a:buSzPct val="100000"/>
              <a:buChar char="•"/>
            </a:pPr>
            <a:r>
              <a:rPr lang="en-US" sz="1400" dirty="0">
                <a:solidFill>
                  <a:schemeClr val="tx1"/>
                </a:solidFill>
              </a:rPr>
              <a:t>Accessibility improvements</a:t>
            </a:r>
            <a:endParaRPr lang="en-US" sz="1400" dirty="0"/>
          </a:p>
          <a:p>
            <a:pPr marL="342900" indent="-342900">
              <a:spcAft>
                <a:spcPts val="600"/>
              </a:spcAft>
              <a:buSzPct val="100000"/>
              <a:buChar char="•"/>
            </a:pPr>
            <a:r>
              <a:rPr lang="en-US" sz="1400" dirty="0">
                <a:solidFill>
                  <a:schemeClr val="tx1"/>
                </a:solidFill>
              </a:rPr>
              <a:t>Clinician-informed research</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bg1"/>
                </a:solidFill>
              </a:rPr>
              <a:t>Conclusion and Demo</a:t>
            </a:r>
            <a:endParaRPr lang="en-US" sz="3400" dirty="0"/>
          </a:p>
        </p:txBody>
      </p:sp>
      <p:sp>
        <p:nvSpPr>
          <p:cNvPr id="4" name="Card"/>
          <p:cNvSpPr/>
          <p:nvPr/>
        </p:nvSpPr>
        <p:spPr>
          <a:xfrm>
            <a:off x="548640" y="1371600"/>
            <a:ext cx="5669280" cy="3931920"/>
          </a:xfrm>
          <a:prstGeom prst="roundRect">
            <a:avLst>
              <a:gd name="adj" fmla="val 2326"/>
            </a:avLst>
          </a:prstGeom>
          <a:solidFill>
            <a:srgbClr val="14315C"/>
          </a:solidFill>
          <a:ln/>
        </p:spPr>
      </p:sp>
      <p:sp>
        <p:nvSpPr>
          <p:cNvPr id="5" name="Text 2"/>
          <p:cNvSpPr txBox="1"/>
          <p:nvPr/>
        </p:nvSpPr>
        <p:spPr>
          <a:xfrm>
            <a:off x="822960" y="1600200"/>
            <a:ext cx="5120640" cy="356616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Problem: historical + dynamic data are hard to read together</a:t>
            </a:r>
            <a:endParaRPr lang="en-US" sz="1600" dirty="0"/>
          </a:p>
          <a:p>
            <a:pPr marL="342900" indent="-342900">
              <a:spcAft>
                <a:spcPts val="600"/>
              </a:spcAft>
              <a:buSzPct val="100000"/>
              <a:buChar char="•"/>
            </a:pPr>
            <a:r>
              <a:rPr lang="en-US" sz="1600" dirty="0">
                <a:solidFill>
                  <a:schemeClr val="bg1"/>
                </a:solidFill>
              </a:rPr>
              <a:t>Contribution: transparent digital-twin research workflow</a:t>
            </a:r>
            <a:endParaRPr lang="en-US" sz="1600" dirty="0"/>
          </a:p>
          <a:p>
            <a:pPr marL="342900" indent="-342900">
              <a:spcAft>
                <a:spcPts val="600"/>
              </a:spcAft>
              <a:buSzPct val="100000"/>
              <a:buChar char="•"/>
            </a:pPr>
            <a:r>
              <a:rPr lang="en-US" sz="1600" dirty="0">
                <a:solidFill>
                  <a:schemeClr val="bg1"/>
                </a:solidFill>
              </a:rPr>
              <a:t>Status: research prototype, labeled per feature</a:t>
            </a:r>
            <a:endParaRPr lang="en-US" sz="1600" dirty="0"/>
          </a:p>
          <a:p>
            <a:pPr marL="342900" indent="-342900">
              <a:spcAft>
                <a:spcPts val="600"/>
              </a:spcAft>
              <a:buSzPct val="100000"/>
              <a:buChar char="•"/>
            </a:pPr>
            <a:r>
              <a:rPr lang="en-US" sz="1600" dirty="0">
                <a:solidFill>
                  <a:schemeClr val="bg1"/>
                </a:solidFill>
              </a:rPr>
              <a:t>Key measured finding: pending evaluation</a:t>
            </a:r>
            <a:endParaRPr lang="en-US" sz="1600" dirty="0"/>
          </a:p>
        </p:txBody>
      </p:sp>
      <p:sp>
        <p:nvSpPr>
          <p:cNvPr id="6" name="Card"/>
          <p:cNvSpPr/>
          <p:nvPr/>
        </p:nvSpPr>
        <p:spPr>
          <a:xfrm>
            <a:off x="6492240" y="1371600"/>
            <a:ext cx="5120640" cy="3931920"/>
          </a:xfrm>
          <a:prstGeom prst="roundRect">
            <a:avLst>
              <a:gd name="adj" fmla="val 2326"/>
            </a:avLst>
          </a:prstGeom>
          <a:solidFill>
            <a:srgbClr val="14315C"/>
          </a:solidFill>
          <a:ln/>
        </p:spPr>
      </p:sp>
      <p:sp>
        <p:nvSpPr>
          <p:cNvPr id="7" name="Text 4"/>
          <p:cNvSpPr txBox="1"/>
          <p:nvPr/>
        </p:nvSpPr>
        <p:spPr>
          <a:xfrm>
            <a:off x="6766560" y="1600200"/>
            <a:ext cx="4572000" cy="3566160"/>
          </a:xfrm>
          <a:prstGeom prst="rect">
            <a:avLst/>
          </a:prstGeom>
          <a:noFill/>
          <a:ln/>
        </p:spPr>
        <p:txBody>
          <a:bodyPr wrap="square" lIns="0" tIns="0" rIns="0" bIns="0" rtlCol="0" anchor="t"/>
          <a:lstStyle/>
          <a:p>
            <a:pPr indent="0" marL="0">
              <a:spcAft>
                <a:spcPts val="1200"/>
              </a:spcAft>
              <a:buNone/>
            </a:pPr>
            <a:r>
              <a:rPr lang="en-US" sz="1600" dirty="0">
                <a:solidFill>
                  <a:schemeClr val="bg1"/>
                </a:solidFill>
              </a:rPr>
              <a:t>GitHub: github.com/&lt;username&gt;/&lt;repo&gt;</a:t>
            </a:r>
            <a:endParaRPr lang="en-US" sz="1600" dirty="0"/>
          </a:p>
          <a:p>
            <a:pPr indent="0" marL="0">
              <a:spcAft>
                <a:spcPts val="1200"/>
              </a:spcAft>
              <a:buNone/>
            </a:pPr>
            <a:r>
              <a:rPr lang="en-US" sz="1600" dirty="0">
                <a:solidFill>
                  <a:schemeClr val="bg1"/>
                </a:solidFill>
              </a:rPr>
              <a:t>Live demo: cardio-twin-ai-rose.vercel.app</a:t>
            </a:r>
            <a:endParaRPr lang="en-US" sz="1600" dirty="0"/>
          </a:p>
          <a:p>
            <a:pPr indent="0" marL="0">
              <a:spcAft>
                <a:spcPts val="1200"/>
              </a:spcAft>
              <a:buNone/>
            </a:pPr>
            <a:r>
              <a:rPr lang="en-US" sz="1600" dirty="0">
                <a:solidFill>
                  <a:schemeClr val="bg1"/>
                </a:solidFill>
              </a:rPr>
              <a:t>Team: Sathiyamoorthi S (Leader), Omprakash S</a:t>
            </a:r>
            <a:endParaRPr lang="en-US" sz="1600" dirty="0"/>
          </a:p>
          <a:p>
            <a:pPr indent="0" marL="0">
              <a:buNone/>
            </a:pPr>
            <a:r>
              <a:rPr lang="en-US" sz="1600" dirty="0">
                <a:solidFill>
                  <a:schemeClr val="bg1"/>
                </a:solidFill>
              </a:rPr>
              <a:t>Contact: &lt;public email or profile&gt;</a:t>
            </a:r>
            <a:endParaRPr lang="en-US" sz="1600" dirty="0"/>
          </a:p>
        </p:txBody>
      </p:sp>
      <p:sp>
        <p:nvSpPr>
          <p:cNvPr id="8" name="Text 5"/>
          <p:cNvSpPr txBox="1"/>
          <p:nvPr/>
        </p:nvSpPr>
        <p:spPr>
          <a:xfrm>
            <a:off x="548640" y="5532120"/>
            <a:ext cx="11064240" cy="731520"/>
          </a:xfrm>
          <a:prstGeom prst="rect">
            <a:avLst/>
          </a:prstGeom>
          <a:noFill/>
          <a:ln/>
        </p:spPr>
        <p:txBody>
          <a:bodyPr wrap="square" lIns="0" tIns="0" rIns="0" bIns="0" rtlCol="0" anchor="t"/>
          <a:lstStyle/>
          <a:p>
            <a:pPr indent="0" marL="0">
              <a:buNone/>
            </a:pPr>
            <a:r>
              <a:rPr lang="en-US" sz="1800" i="1" dirty="0">
                <a:solidFill>
                  <a:srgbClr val="22D3EE"/>
                </a:solidFill>
              </a:rPr>
              <a:t>CardioTwin AI explores how historical health context and dynamic wearable signals can be combined in a transparent digital-twin research workflow.</a:t>
            </a:r>
            <a:endParaRPr lang="en-US" sz="18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5B4CC"/>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Appendix: Method References</a:t>
            </a:r>
            <a:endParaRPr lang="en-US" sz="3400" dirty="0"/>
          </a:p>
        </p:txBody>
      </p:sp>
      <p:sp>
        <p:nvSpPr>
          <p:cNvPr id="4" name="Text 1"/>
          <p:cNvSpPr txBox="1"/>
          <p:nvPr/>
        </p:nvSpPr>
        <p:spPr>
          <a:xfrm>
            <a:off x="548640" y="1463040"/>
            <a:ext cx="11064240" cy="4389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Pedregosa et al. (2011). Scikit-learn: Machine Learning in Python. JMLR 12.</a:t>
            </a:r>
            <a:endParaRPr lang="en-US" sz="1400" dirty="0"/>
          </a:p>
          <a:p>
            <a:pPr marL="342900" indent="-342900">
              <a:spcAft>
                <a:spcPts val="600"/>
              </a:spcAft>
              <a:buSzPct val="100000"/>
              <a:buChar char="•"/>
            </a:pPr>
            <a:r>
              <a:rPr lang="en-US" sz="1400" dirty="0">
                <a:solidFill>
                  <a:schemeClr val="tx1"/>
                </a:solidFill>
              </a:rPr>
              <a:t>Lundberg &amp; Lee (2017). A Unified Approach to Interpreting Model Predictions. NeurIPS.</a:t>
            </a:r>
            <a:endParaRPr lang="en-US" sz="1400" dirty="0"/>
          </a:p>
          <a:p>
            <a:pPr marL="342900" indent="-342900">
              <a:spcAft>
                <a:spcPts val="600"/>
              </a:spcAft>
              <a:buSzPct val="100000"/>
              <a:buChar char="•"/>
            </a:pPr>
            <a:r>
              <a:rPr lang="en-US" sz="1400" dirty="0">
                <a:solidFill>
                  <a:schemeClr val="tx1"/>
                </a:solidFill>
              </a:rPr>
              <a:t>Saito &amp; Rehmsmeier (2015). The Precision-Recall Plot Is More Informative than the ROC Plot on Imbalanced Datasets. PLOS ONE 10(3).</a:t>
            </a:r>
            <a:endParaRPr lang="en-US" sz="1400" dirty="0"/>
          </a:p>
          <a:p>
            <a:pPr marL="342900" indent="-342900">
              <a:spcAft>
                <a:spcPts val="600"/>
              </a:spcAft>
              <a:buSzPct val="100000"/>
              <a:buChar char="•"/>
            </a:pPr>
            <a:r>
              <a:rPr lang="en-US" sz="1400" dirty="0">
                <a:solidFill>
                  <a:schemeClr val="tx1"/>
                </a:solidFill>
              </a:rPr>
              <a:t>Kaufman et al. (2012). Leakage in Data Mining. ACM TKDD 6(4).</a:t>
            </a:r>
            <a:endParaRPr lang="en-US" sz="1400" dirty="0"/>
          </a:p>
          <a:p>
            <a:pPr marL="342900" indent="-342900">
              <a:spcAft>
                <a:spcPts val="600"/>
              </a:spcAft>
              <a:buSzPct val="100000"/>
              <a:buChar char="•"/>
            </a:pPr>
            <a:r>
              <a:rPr lang="en-US" sz="1400" dirty="0">
                <a:solidFill>
                  <a:schemeClr val="tx1"/>
                </a:solidFill>
              </a:rPr>
              <a:t>Collins et al. (2015). TRIPOD statement. BMJ 350:g7594.</a:t>
            </a:r>
            <a:endParaRPr lang="en-US" sz="1400" dirty="0"/>
          </a:p>
          <a:p>
            <a:pPr marL="342900" indent="-342900">
              <a:spcAft>
                <a:spcPts val="600"/>
              </a:spcAft>
              <a:buSzPct val="100000"/>
              <a:buChar char="•"/>
            </a:pPr>
            <a:r>
              <a:rPr lang="en-US" sz="1400" dirty="0">
                <a:solidFill>
                  <a:schemeClr val="tx1"/>
                </a:solidFill>
              </a:rPr>
              <a:t>Mitchell et al. (2019). Model Cards for Model Reporting. FAT*.</a:t>
            </a:r>
            <a:endParaRPr lang="en-US" sz="1400" dirty="0"/>
          </a:p>
          <a:p>
            <a:pPr marL="342900" indent="-342900">
              <a:spcAft>
                <a:spcPts val="600"/>
              </a:spcAft>
              <a:buSzPct val="100000"/>
              <a:buChar char="•"/>
            </a:pPr>
            <a:r>
              <a:rPr lang="en-US" sz="1400" dirty="0">
                <a:solidFill>
                  <a:schemeClr val="tx1"/>
                </a:solidFill>
              </a:rPr>
              <a:t>Walonoski et al. (2018). Synthea. JAMIA 25(3). Cite only if Synthea is used.</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Appendix: Feature Dictionary</a:t>
            </a:r>
            <a:endParaRPr lang="en-US" sz="3400" dirty="0"/>
          </a:p>
        </p:txBody>
      </p:sp>
      <p:pic>
        <p:nvPicPr>
          <p:cNvPr id="4" name="Image 0" descr="Four KPI cards: heart rate, HRV RMSSD, blood pressure, sleep duration">    </p:cNvPr>
          <p:cNvPicPr>
            <a:picLocks noChangeAspect="1"/>
          </p:cNvPicPr>
          <p:nvPr/>
        </p:nvPicPr>
        <p:blipFill>
          <a:blip r:embed="rId1"/>
          <a:stretch>
            <a:fillRect/>
          </a:stretch>
        </p:blipFill>
        <p:spPr>
          <a:xfrm>
            <a:off x="548640" y="1371600"/>
            <a:ext cx="11064240" cy="1188720"/>
          </a:xfrm>
          <a:prstGeom prst="rect">
            <a:avLst/>
          </a:prstGeom>
        </p:spPr>
      </p:pic>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9144000" cy="914400"/>
        </p:xfrm>
        <a:graphic>
          <a:graphicData uri="http://schemas.openxmlformats.org/drawingml/2006/table">
            <a:tbl>
              <a:tblPr/>
              <a:tblGrid>
                <a:gridCol w="3291840"/>
                <a:gridCol w="2011680"/>
                <a:gridCol w="5760720"/>
              </a:tblGrid>
              <a:tr h="384048">
                <a:tc>
                  <a:txBody>
                    <a:bodyPr/>
                    <a:lstStyle/>
                    <a:p>
                      <a:pPr indent="0" marL="0">
                        <a:buNone/>
                      </a:pPr>
                      <a:r>
                        <a:rPr lang="en-US" sz="1400" b="1" dirty="0">
                          <a:solidFill>
                            <a:srgbClr val="FFFFFF"/>
                          </a:solidFill>
                        </a:rPr>
                        <a:t>Field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Unit</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c>
                  <a:txBody>
                    <a:bodyPr/>
                    <a:lstStyle/>
                    <a:p>
                      <a:pPr indent="0" marL="0">
                        <a:buNone/>
                      </a:pPr>
                      <a:r>
                        <a:rPr lang="en-US" sz="1400" b="1" dirty="0">
                          <a:solidFill>
                            <a:srgbClr val="FFFFFF"/>
                          </a:solidFill>
                        </a:rPr>
                        <a:t>Demo value (synthetic CT-1001)</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solidFill>
                      <a:srgbClr val="0E7490"/>
                    </a:solidFill>
                  </a:tcPr>
                </a:tc>
              </a:tr>
              <a:tr h="384048">
                <a:tc>
                  <a:txBody>
                    <a:bodyPr/>
                    <a:lstStyle/>
                    <a:p>
                      <a:pPr indent="0" marL="0">
                        <a:buNone/>
                      </a:pPr>
                      <a:r>
                        <a:rPr lang="en-US" sz="1400" dirty="0">
                          <a:solidFill>
                            <a:srgbClr val="14213D"/>
                          </a:solidFill>
                        </a:rPr>
                        <a:t>Heart rate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bpm</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86 (resting baseline 74)</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384048">
                <a:tc>
                  <a:txBody>
                    <a:bodyPr/>
                    <a:lstStyle/>
                    <a:p>
                      <a:pPr indent="0" marL="0">
                        <a:buNone/>
                      </a:pPr>
                      <a:r>
                        <a:rPr lang="en-US" sz="1400" dirty="0">
                          <a:solidFill>
                            <a:srgbClr val="14213D"/>
                          </a:solidFill>
                        </a:rPr>
                        <a:t>HRV (RMSSD)</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ms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18 (autonomic norm 26)</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384048">
                <a:tc>
                  <a:txBody>
                    <a:bodyPr/>
                    <a:lstStyle/>
                    <a:p>
                      <a:pPr indent="0" marL="0">
                        <a:buNone/>
                      </a:pPr>
                      <a:r>
                        <a:rPr lang="en-US" sz="1400" dirty="0">
                          <a:solidFill>
                            <a:srgbClr val="14213D"/>
                          </a:solidFill>
                        </a:rPr>
                        <a:t>Blood pressure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mmHg</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146/92</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384048">
                <a:tc>
                  <a:txBody>
                    <a:bodyPr/>
                    <a:lstStyle/>
                    <a:p>
                      <a:pPr indent="0" marL="0">
                        <a:buNone/>
                      </a:pPr>
                      <a:r>
                        <a:rPr lang="en-US" sz="1400" dirty="0">
                          <a:solidFill>
                            <a:srgbClr val="14213D"/>
                          </a:solidFill>
                        </a:rPr>
                        <a:t>Sleep duration</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hours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6.3 (deep 14%, efficiency 89%)</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384048">
                <a:tc>
                  <a:txBody>
                    <a:bodyPr/>
                    <a:lstStyle/>
                    <a:p>
                      <a:pPr indent="0" marL="0">
                        <a:buNone/>
                      </a:pPr>
                      <a:r>
                        <a:rPr lang="en-US" sz="1400" dirty="0">
                          <a:solidFill>
                            <a:srgbClr val="14213D"/>
                          </a:solidFill>
                        </a:rPr>
                        <a:t>BMI</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index</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29.4</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384048">
                <a:tc>
                  <a:txBody>
                    <a:bodyPr/>
                    <a:lstStyle/>
                    <a:p>
                      <a:pPr indent="0" marL="0">
                        <a:buNone/>
                      </a:pPr>
                      <a:r>
                        <a:rPr lang="en-US" sz="1400" dirty="0">
                          <a:solidFill>
                            <a:srgbClr val="14213D"/>
                          </a:solidFill>
                        </a:rPr>
                        <a:t>Age</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years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64</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r h="384048">
                <a:tc>
                  <a:txBody>
                    <a:bodyPr/>
                    <a:lstStyle/>
                    <a:p>
                      <a:pPr indent="0" marL="0">
                        <a:buNone/>
                      </a:pPr>
                      <a:r>
                        <a:rPr lang="en-US" sz="1400" dirty="0">
                          <a:solidFill>
                            <a:srgbClr val="14213D"/>
                          </a:solidFill>
                        </a:rPr>
                        <a:t>History flags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yes / no</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c>
                  <a:txBody>
                    <a:bodyPr/>
                    <a:lstStyle/>
                    <a:p>
                      <a:pPr indent="0" marL="0">
                        <a:buNone/>
                      </a:pPr>
                      <a:r>
                        <a:rPr lang="en-US" sz="1400" dirty="0">
                          <a:solidFill>
                            <a:srgbClr val="14213D"/>
                          </a:solidFill>
                        </a:rPr>
                        <a:t>Hypertension, CAD history, smoking status</a:t>
                      </a:r>
                      <a:endParaRPr lang="en-US" sz="1400" dirty="0"/>
                    </a:p>
                  </a:txBody>
                  <a:tcPr marL="91440" marR="91440" marT="0" marB="0" anchor="ctr">
                    <a:lnL w="9525" cap="flat" cmpd="sng" algn="ctr">
                      <a:solidFill>
                        <a:srgbClr val="D5DEE8"/>
                      </a:solidFill>
                      <a:prstDash val="solid"/>
                      <a:round/>
                      <a:headEnd type="none" w="med" len="med"/>
                      <a:tailEnd type="none" w="med" len="med"/>
                    </a:lnL>
                    <a:lnR w="9525" cap="flat" cmpd="sng" algn="ctr">
                      <a:solidFill>
                        <a:srgbClr val="D5DEE8"/>
                      </a:solidFill>
                      <a:prstDash val="solid"/>
                      <a:round/>
                      <a:headEnd type="none" w="med" len="med"/>
                      <a:tailEnd type="none" w="med" len="med"/>
                    </a:lnR>
                    <a:lnT w="9525" cap="flat" cmpd="sng" algn="ctr">
                      <a:solidFill>
                        <a:srgbClr val="D5DEE8"/>
                      </a:solidFill>
                      <a:prstDash val="solid"/>
                      <a:round/>
                      <a:headEnd type="none" w="med" len="med"/>
                      <a:tailEnd type="none" w="med" len="med"/>
                    </a:lnT>
                    <a:lnB w="9525" cap="flat" cmpd="sng" algn="ctr">
                      <a:solidFill>
                        <a:srgbClr val="D5DEE8"/>
                      </a:solidFill>
                      <a:prstDash val="solid"/>
                      <a:round/>
                      <a:headEnd type="none" w="med" len="med"/>
                      <a:tailEnd type="none" w="med" len="med"/>
                    </a:lnB>
                  </a:tcPr>
                </a:tc>
              </a:tr>
            </a:tbl>
          </a:graphicData>
        </a:graphic>
      </p:graphicFrame>
      <p:sp>
        <p:nvSpPr>
          <p:cNvPr id="6" name="Text 1"/>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Figure A2. KPI strip and field values from the running prototype (synthetic data).</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chemeClr val="tx2"/>
                </a:solidFill>
              </a:rPr>
              <a:t>Appendix: Application Module Map</a:t>
            </a:r>
            <a:endParaRPr lang="en-US" sz="3400" dirty="0"/>
          </a:p>
        </p:txBody>
      </p:sp>
      <p:sp>
        <p:nvSpPr>
          <p:cNvPr id="4" name="Card"/>
          <p:cNvSpPr/>
          <p:nvPr/>
        </p:nvSpPr>
        <p:spPr>
          <a:xfrm>
            <a:off x="548640" y="1417320"/>
            <a:ext cx="5394960" cy="2148840"/>
          </a:xfrm>
          <a:prstGeom prst="roundRect">
            <a:avLst>
              <a:gd name="adj" fmla="val 4255"/>
            </a:avLst>
          </a:prstGeom>
          <a:solidFill>
            <a:schemeClr val="bg2"/>
          </a:solidFill>
          <a:ln/>
        </p:spPr>
      </p:sp>
      <p:sp>
        <p:nvSpPr>
          <p:cNvPr id="5" name="Text 2"/>
          <p:cNvSpPr txBox="1"/>
          <p:nvPr/>
        </p:nvSpPr>
        <p:spPr>
          <a:xfrm>
            <a:off x="822960" y="155448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Workspace</a:t>
            </a:r>
            <a:endParaRPr lang="en-US" sz="2000" dirty="0"/>
          </a:p>
        </p:txBody>
      </p:sp>
      <p:sp>
        <p:nvSpPr>
          <p:cNvPr id="6" name="Text 3"/>
          <p:cNvSpPr txBox="1"/>
          <p:nvPr/>
        </p:nvSpPr>
        <p:spPr>
          <a:xfrm>
            <a:off x="822960" y="2011680"/>
            <a:ext cx="48463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Executive Overview</a:t>
            </a:r>
            <a:endParaRPr lang="en-US" sz="1400" dirty="0"/>
          </a:p>
          <a:p>
            <a:pPr marL="342900" indent="-342900">
              <a:spcAft>
                <a:spcPts val="600"/>
              </a:spcAft>
              <a:buSzPct val="100000"/>
              <a:buChar char="•"/>
            </a:pPr>
            <a:r>
              <a:rPr lang="en-US" sz="1400" dirty="0">
                <a:solidFill>
                  <a:schemeClr val="tx1"/>
                </a:solidFill>
              </a:rPr>
              <a:t>Patient Twins</a:t>
            </a:r>
            <a:endParaRPr lang="en-US" sz="1400" dirty="0"/>
          </a:p>
          <a:p>
            <a:pPr marL="342900" indent="-342900">
              <a:spcAft>
                <a:spcPts val="600"/>
              </a:spcAft>
              <a:buSzPct val="100000"/>
              <a:buChar char="•"/>
            </a:pPr>
            <a:r>
              <a:rPr lang="en-US" sz="1400" dirty="0">
                <a:solidFill>
                  <a:schemeClr val="tx1"/>
                </a:solidFill>
              </a:rPr>
              <a:t>Live Wearables</a:t>
            </a:r>
            <a:endParaRPr lang="en-US" sz="1400" dirty="0"/>
          </a:p>
          <a:p>
            <a:pPr marL="342900" indent="-342900">
              <a:spcAft>
                <a:spcPts val="600"/>
              </a:spcAft>
              <a:buSzPct val="100000"/>
              <a:buChar char="•"/>
            </a:pPr>
            <a:r>
              <a:rPr lang="en-US" sz="1400" dirty="0">
                <a:solidFill>
                  <a:schemeClr val="tx1"/>
                </a:solidFill>
              </a:rPr>
              <a:t>Risk Analysis</a:t>
            </a:r>
            <a:endParaRPr lang="en-US" sz="1400" dirty="0"/>
          </a:p>
          <a:p>
            <a:pPr marL="342900" indent="-342900">
              <a:spcAft>
                <a:spcPts val="600"/>
              </a:spcAft>
              <a:buSzPct val="100000"/>
              <a:buChar char="•"/>
            </a:pPr>
            <a:r>
              <a:rPr lang="en-US" sz="1400" dirty="0">
                <a:solidFill>
                  <a:schemeClr val="tx1"/>
                </a:solidFill>
              </a:rPr>
              <a:t>Twin Simulator</a:t>
            </a:r>
            <a:endParaRPr lang="en-US" sz="1400" dirty="0"/>
          </a:p>
        </p:txBody>
      </p:sp>
      <p:sp>
        <p:nvSpPr>
          <p:cNvPr id="7" name="Card"/>
          <p:cNvSpPr/>
          <p:nvPr/>
        </p:nvSpPr>
        <p:spPr>
          <a:xfrm>
            <a:off x="6217920" y="1417320"/>
            <a:ext cx="5394960" cy="2148840"/>
          </a:xfrm>
          <a:prstGeom prst="roundRect">
            <a:avLst>
              <a:gd name="adj" fmla="val 4255"/>
            </a:avLst>
          </a:prstGeom>
          <a:solidFill>
            <a:schemeClr val="bg2"/>
          </a:solidFill>
          <a:ln/>
        </p:spPr>
      </p:sp>
      <p:sp>
        <p:nvSpPr>
          <p:cNvPr id="8" name="Text 5"/>
          <p:cNvSpPr txBox="1"/>
          <p:nvPr/>
        </p:nvSpPr>
        <p:spPr>
          <a:xfrm>
            <a:off x="6492240" y="155448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Intelligence</a:t>
            </a:r>
            <a:endParaRPr lang="en-US" sz="2000" dirty="0"/>
          </a:p>
        </p:txBody>
      </p:sp>
      <p:sp>
        <p:nvSpPr>
          <p:cNvPr id="9" name="Text 6"/>
          <p:cNvSpPr txBox="1"/>
          <p:nvPr/>
        </p:nvSpPr>
        <p:spPr>
          <a:xfrm>
            <a:off x="6492240" y="2011680"/>
            <a:ext cx="4846320" cy="14630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AI Insights</a:t>
            </a:r>
            <a:endParaRPr lang="en-US" sz="1400" dirty="0"/>
          </a:p>
          <a:p>
            <a:pPr marL="342900" indent="-342900">
              <a:spcAft>
                <a:spcPts val="600"/>
              </a:spcAft>
              <a:buSzPct val="100000"/>
              <a:buChar char="•"/>
            </a:pPr>
            <a:r>
              <a:rPr lang="en-US" sz="1400" dirty="0">
                <a:solidFill>
                  <a:schemeClr val="tx1"/>
                </a:solidFill>
              </a:rPr>
              <a:t>Model Performance</a:t>
            </a:r>
            <a:endParaRPr lang="en-US" sz="1400" dirty="0"/>
          </a:p>
          <a:p>
            <a:pPr marL="342900" indent="-342900">
              <a:spcAft>
                <a:spcPts val="600"/>
              </a:spcAft>
              <a:buSzPct val="100000"/>
              <a:buChar char="•"/>
            </a:pPr>
            <a:r>
              <a:rPr lang="en-US" sz="1400" dirty="0">
                <a:solidFill>
                  <a:schemeClr val="tx1"/>
                </a:solidFill>
              </a:rPr>
              <a:t>Event Timeline</a:t>
            </a:r>
            <a:endParaRPr lang="en-US" sz="1400" dirty="0"/>
          </a:p>
        </p:txBody>
      </p:sp>
      <p:sp>
        <p:nvSpPr>
          <p:cNvPr id="10" name="Card"/>
          <p:cNvSpPr/>
          <p:nvPr/>
        </p:nvSpPr>
        <p:spPr>
          <a:xfrm>
            <a:off x="548640" y="3749040"/>
            <a:ext cx="5394960" cy="1828800"/>
          </a:xfrm>
          <a:prstGeom prst="roundRect">
            <a:avLst>
              <a:gd name="adj" fmla="val 5000"/>
            </a:avLst>
          </a:prstGeom>
          <a:solidFill>
            <a:schemeClr val="bg2"/>
          </a:solidFill>
          <a:ln/>
        </p:spPr>
      </p:sp>
      <p:sp>
        <p:nvSpPr>
          <p:cNvPr id="11" name="Text 8"/>
          <p:cNvSpPr txBox="1"/>
          <p:nvPr/>
        </p:nvSpPr>
        <p:spPr>
          <a:xfrm>
            <a:off x="822960" y="388620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Data and Reporting</a:t>
            </a:r>
            <a:endParaRPr lang="en-US" sz="2000" dirty="0"/>
          </a:p>
        </p:txBody>
      </p:sp>
      <p:sp>
        <p:nvSpPr>
          <p:cNvPr id="12" name="Text 9"/>
          <p:cNvSpPr txBox="1"/>
          <p:nvPr/>
        </p:nvSpPr>
        <p:spPr>
          <a:xfrm>
            <a:off x="822960" y="4343400"/>
            <a:ext cx="484632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Data Quality</a:t>
            </a:r>
            <a:endParaRPr lang="en-US" sz="1400" dirty="0"/>
          </a:p>
          <a:p>
            <a:pPr marL="342900" indent="-342900">
              <a:spcAft>
                <a:spcPts val="600"/>
              </a:spcAft>
              <a:buSzPct val="100000"/>
              <a:buChar char="•"/>
            </a:pPr>
            <a:r>
              <a:rPr lang="en-US" sz="1400" dirty="0">
                <a:solidFill>
                  <a:schemeClr val="tx1"/>
                </a:solidFill>
              </a:rPr>
              <a:t>Reports and Exports</a:t>
            </a:r>
            <a:endParaRPr lang="en-US" sz="1400" dirty="0"/>
          </a:p>
        </p:txBody>
      </p:sp>
      <p:sp>
        <p:nvSpPr>
          <p:cNvPr id="13" name="Card"/>
          <p:cNvSpPr/>
          <p:nvPr/>
        </p:nvSpPr>
        <p:spPr>
          <a:xfrm>
            <a:off x="6217920" y="3749040"/>
            <a:ext cx="5394960" cy="1828800"/>
          </a:xfrm>
          <a:prstGeom prst="roundRect">
            <a:avLst>
              <a:gd name="adj" fmla="val 5000"/>
            </a:avLst>
          </a:prstGeom>
          <a:solidFill>
            <a:schemeClr val="bg2"/>
          </a:solidFill>
          <a:ln/>
        </p:spPr>
      </p:sp>
      <p:sp>
        <p:nvSpPr>
          <p:cNvPr id="14" name="Text 11"/>
          <p:cNvSpPr txBox="1"/>
          <p:nvPr/>
        </p:nvSpPr>
        <p:spPr>
          <a:xfrm>
            <a:off x="6492240" y="3886200"/>
            <a:ext cx="4846320" cy="365760"/>
          </a:xfrm>
          <a:prstGeom prst="rect">
            <a:avLst/>
          </a:prstGeom>
          <a:noFill/>
          <a:ln/>
        </p:spPr>
        <p:txBody>
          <a:bodyPr wrap="square" lIns="0" tIns="0" rIns="0" bIns="0" rtlCol="0" anchor="t"/>
          <a:lstStyle/>
          <a:p>
            <a:pPr indent="0" marL="0">
              <a:buNone/>
            </a:pPr>
            <a:r>
              <a:rPr lang="en-US" sz="2000" b="1" dirty="0">
                <a:solidFill>
                  <a:schemeClr val="accent1"/>
                </a:solidFill>
              </a:rPr>
              <a:t>System</a:t>
            </a:r>
            <a:endParaRPr lang="en-US" sz="2000" dirty="0"/>
          </a:p>
        </p:txBody>
      </p:sp>
      <p:sp>
        <p:nvSpPr>
          <p:cNvPr id="15" name="Text 12"/>
          <p:cNvSpPr txBox="1"/>
          <p:nvPr/>
        </p:nvSpPr>
        <p:spPr>
          <a:xfrm>
            <a:off x="6492240" y="4343400"/>
            <a:ext cx="4846320" cy="1143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Notifications</a:t>
            </a:r>
            <a:endParaRPr lang="en-US" sz="1400" dirty="0"/>
          </a:p>
          <a:p>
            <a:pPr marL="342900" indent="-342900">
              <a:spcAft>
                <a:spcPts val="600"/>
              </a:spcAft>
              <a:buSzPct val="100000"/>
              <a:buChar char="•"/>
            </a:pPr>
            <a:r>
              <a:rPr lang="en-US" sz="1400" dirty="0">
                <a:solidFill>
                  <a:schemeClr val="tx1"/>
                </a:solidFill>
              </a:rPr>
              <a:t>Settings</a:t>
            </a:r>
            <a:endParaRPr lang="en-US" sz="1400" dirty="0"/>
          </a:p>
          <a:p>
            <a:pPr marL="342900" indent="-342900">
              <a:spcAft>
                <a:spcPts val="600"/>
              </a:spcAft>
              <a:buSzPct val="100000"/>
              <a:buChar char="•"/>
            </a:pPr>
            <a:r>
              <a:rPr lang="en-US" sz="1400" dirty="0">
                <a:solidFill>
                  <a:schemeClr val="tx1"/>
                </a:solidFill>
              </a:rPr>
              <a:t>Documentation</a:t>
            </a:r>
            <a:endParaRPr lang="en-US" sz="1400" dirty="0"/>
          </a:p>
        </p:txBody>
      </p:sp>
      <p:sp>
        <p:nvSpPr>
          <p:cNvPr id="16" name="Text 13"/>
          <p:cNvSpPr txBox="1"/>
          <p:nvPr/>
        </p:nvSpPr>
        <p:spPr>
          <a:xfrm>
            <a:off x="548640" y="5897880"/>
            <a:ext cx="11064240" cy="274320"/>
          </a:xfrm>
          <a:prstGeom prst="rect">
            <a:avLst/>
          </a:prstGeom>
          <a:noFill/>
          <a:ln/>
        </p:spPr>
        <p:txBody>
          <a:bodyPr wrap="square" lIns="0" tIns="0" rIns="0" bIns="0" rtlCol="0" anchor="t"/>
          <a:lstStyle/>
          <a:p>
            <a:pPr indent="0" marL="0">
              <a:buNone/>
            </a:pPr>
            <a:r>
              <a:rPr lang="en-US" sz="1200" i="1" dirty="0">
                <a:solidFill>
                  <a:schemeClr val="accent6"/>
                </a:solidFill>
              </a:rPr>
              <a:t>Module names from the live UI sidebar; page functionality to be verified.</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CardioTwin">
  <a:themeElements>
    <a:clrScheme name="CardioTwin">
      <a:dk1>
        <a:srgbClr val="14213D"/>
      </a:dk1>
      <a:lt1>
        <a:srgbClr val="FFFFFF"/>
      </a:lt1>
      <a:dk2>
        <a:srgbClr val="0B1F3A"/>
      </a:dk2>
      <a:lt2>
        <a:srgbClr val="EAF1F8"/>
      </a:lt2>
      <a:accent1>
        <a:srgbClr val="0E7490"/>
      </a:accent1>
      <a:accent2>
        <a:srgbClr val="6D5BD0"/>
      </a:accent2>
      <a:accent3>
        <a:srgbClr val="22D3EE"/>
      </a:accent3>
      <a:accent4>
        <a:srgbClr val="B45309"/>
      </a:accent4>
      <a:accent5>
        <a:srgbClr val="15803D"/>
      </a:accent5>
      <a:accent6>
        <a:srgbClr val="64748B"/>
      </a:accent6>
      <a:hlink>
        <a:srgbClr val="0E7490"/>
      </a:hlink>
      <a:folHlink>
        <a:srgbClr val="6D5BD0"/>
      </a:folHlink>
    </a:clrScheme>
    <a:fontScheme name="CardioTwi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CardioTwin AI - Challenge Presentation</dc:title>
  <dc:subject>PptxGenJS Presentation</dc:subject>
  <dc:creator>Sathiyamoorthi S, Omprakash S</dc:creator>
  <cp:lastModifiedBy>Sathiyamoorthi S, Omprakash S</cp:lastModifiedBy>
  <cp:revision>1</cp:revision>
  <dcterms:created xsi:type="dcterms:W3CDTF">2026-10-24T01:31:16Z</dcterms:created>
  <dcterms:modified xsi:type="dcterms:W3CDTF">2026-10-24T01:31:16Z</dcterms:modified>
</cp:coreProperties>
</file>